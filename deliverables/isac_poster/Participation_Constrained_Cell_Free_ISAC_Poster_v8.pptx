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  <p:sldMasterId id="2147483672" r:id="rId3"/>
    <p:sldMasterId id="2147483684" r:id="rId4"/>
  </p:sldMasterIdLst>
  <p:notesMasterIdLst>
    <p:notesMasterId r:id="rId6"/>
  </p:notesMasterIdLst>
  <p:sldIdLst>
    <p:sldId id="256" r:id="rId5"/>
  </p:sldIdLst>
  <p:sldSz cx="30275213" cy="428117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 snapToObjects="1">
      <p:cViewPr>
        <p:scale>
          <a:sx n="1" d="1"/>
          <a:sy n="1" d="1"/>
        </p:scale>
        <p:origin x="0" y="0"/>
      </p:cViewPr>
      <p:guideLst/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4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Internal experiment package: participation_model_experiment_package/README.md and paper/numerical_results.tex.</a:t>
            </a:r>
          </a:p>
          <a:p>
            <a:r>
              <a:t>- Internal mathematical derivation: math_derivation_tex_v10/math_derivation_en.tex.</a:t>
            </a:r>
          </a:p>
          <a:p>
            <a:r>
              <a:t>- Figure assets: experiment-package/figures/*.png.</a:t>
            </a:r>
          </a:p>
          <a:p>
            <a:r>
              <a:t>- Local design benchmarks reviewed: Kai Lin, Lauren Spooner and Matthew Garrett winner posters; EET Thesis C/Project C marking form.</a:t>
            </a:r>
          </a:p>
          <a:p>
            <a:r>
              <a:t>- Design approach inspired by Paper2Poster: https://github.com/paper2poster/paper2poster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30275213" cy="558265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700CE6-EBB3-44D8-8F26-E76C2FAB07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3761" y="1714453"/>
            <a:ext cx="27247692" cy="7135283"/>
          </a:xfrm>
          <a:prstGeom prst="rect">
            <a:avLst/>
          </a:prstGeom>
        </p:spPr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1D06EF-5D92-4BF5-AD16-9D2555226B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13761" y="9989400"/>
            <a:ext cx="27247692" cy="28253743"/>
          </a:xfrm>
          <a:prstGeom prst="rect">
            <a:avLst/>
          </a:prstGeo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1771EE-069D-49A6-9210-F424CF8A2687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1513761" y="39680106"/>
            <a:ext cx="7064216" cy="2279327"/>
          </a:xfrm>
          <a:prstGeom prst="rect">
            <a:avLst/>
          </a:prstGeom>
        </p:spPr>
        <p:txBody>
          <a:bodyPr/>
          <a:lstStyle/>
          <a:p>
            <a:fld id="{1516A2DB-5E56-684A-96DC-9BEBC5CFD730}" type="datetimeFigureOut">
              <a:t>2026/7/28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C40BDC-B124-464E-8A63-D659812B412C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10344031" y="39680106"/>
            <a:ext cx="9587151" cy="2279327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B48E74-5547-43D0-820B-4FE0CE46645C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21697236" y="39680106"/>
            <a:ext cx="7064216" cy="2279327"/>
          </a:xfrm>
          <a:prstGeom prst="rect">
            <a:avLst/>
          </a:prstGeom>
        </p:spPr>
        <p:txBody>
          <a:bodyPr/>
          <a:lstStyle/>
          <a:p>
            <a:fld id="{0CB39F1A-5E86-644C-9604-CE1653FC42E0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0FA486-F034-4E93-9474-7477C6F028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91533" y="27510485"/>
            <a:ext cx="25733931" cy="8502879"/>
          </a:xfrm>
          <a:prstGeom prst="rect">
            <a:avLst/>
          </a:prstGeom>
        </p:spPr>
        <p:txBody>
          <a:bodyPr anchor="t"/>
          <a:lstStyle>
            <a:lvl1pPr algn="l">
              <a:buNone/>
              <a:defRPr sz="18300" b="1" cap="all"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AC1272-38EC-4FBA-AAAF-C4C82D982E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391533" y="18145428"/>
            <a:ext cx="25733931" cy="9365056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9100">
                <a:solidFill>
                  <a:schemeClr val="tx1">
                    <a:tint val="75000"/>
                  </a:schemeClr>
                </a:solidFill>
              </a:defRPr>
            </a:lvl1pPr>
            <a:lvl2pPr marL="2088170" indent="0">
              <a:buNone/>
              <a:defRPr sz="8200">
                <a:solidFill>
                  <a:schemeClr val="tx1">
                    <a:tint val="75000"/>
                  </a:schemeClr>
                </a:solidFill>
              </a:defRPr>
            </a:lvl2pPr>
            <a:lvl3pPr marL="4176339" indent="0">
              <a:buNone/>
              <a:defRPr sz="7300">
                <a:solidFill>
                  <a:schemeClr val="tx1">
                    <a:tint val="75000"/>
                  </a:schemeClr>
                </a:solidFill>
              </a:defRPr>
            </a:lvl3pPr>
            <a:lvl4pPr marL="6264509" indent="0">
              <a:buNone/>
              <a:defRPr sz="6400">
                <a:solidFill>
                  <a:schemeClr val="tx1">
                    <a:tint val="75000"/>
                  </a:schemeClr>
                </a:solidFill>
              </a:defRPr>
            </a:lvl4pPr>
            <a:lvl5pPr marL="8352678" indent="0">
              <a:buNone/>
              <a:defRPr sz="6400">
                <a:solidFill>
                  <a:schemeClr val="tx1">
                    <a:tint val="75000"/>
                  </a:schemeClr>
                </a:solidFill>
              </a:defRPr>
            </a:lvl5pPr>
            <a:lvl6pPr marL="10440848" indent="0">
              <a:buNone/>
              <a:defRPr sz="6400">
                <a:solidFill>
                  <a:schemeClr val="tx1">
                    <a:tint val="75000"/>
                  </a:schemeClr>
                </a:solidFill>
              </a:defRPr>
            </a:lvl6pPr>
            <a:lvl7pPr marL="12529017" indent="0">
              <a:buNone/>
              <a:defRPr sz="6400">
                <a:solidFill>
                  <a:schemeClr val="tx1">
                    <a:tint val="75000"/>
                  </a:schemeClr>
                </a:solidFill>
              </a:defRPr>
            </a:lvl7pPr>
            <a:lvl8pPr marL="14617187" indent="0">
              <a:buNone/>
              <a:defRPr sz="6400">
                <a:solidFill>
                  <a:schemeClr val="tx1">
                    <a:tint val="75000"/>
                  </a:schemeClr>
                </a:solidFill>
              </a:defRPr>
            </a:lvl8pPr>
            <a:lvl9pPr marL="16705356" indent="0">
              <a:buNone/>
              <a:defRPr sz="6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EACB41-2E9A-40C2-AE83-5BF1EF1C43D7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1513761" y="39680106"/>
            <a:ext cx="7064216" cy="2279327"/>
          </a:xfrm>
          <a:prstGeom prst="rect">
            <a:avLst/>
          </a:prstGeom>
        </p:spPr>
        <p:txBody>
          <a:bodyPr/>
          <a:lstStyle/>
          <a:p>
            <a:fld id="{1516A2DB-5E56-684A-96DC-9BEBC5CFD730}" type="datetimeFigureOut">
              <a:t>2026/7/28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CA29E7-FDF7-4102-AB3C-7C5B4328BD77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10344031" y="39680106"/>
            <a:ext cx="9587151" cy="2279327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790942-C324-473A-BDAA-CE9BF0A19343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21697236" y="39680106"/>
            <a:ext cx="7064216" cy="2279327"/>
          </a:xfrm>
          <a:prstGeom prst="rect">
            <a:avLst/>
          </a:prstGeom>
        </p:spPr>
        <p:txBody>
          <a:bodyPr/>
          <a:lstStyle/>
          <a:p>
            <a:fld id="{0CB39F1A-5E86-644C-9604-CE1653FC42E0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8D3FCB-BCA5-424D-9EDA-4765458E95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3761" y="1714453"/>
            <a:ext cx="27247692" cy="7135283"/>
          </a:xfrm>
          <a:prstGeom prst="rect">
            <a:avLst/>
          </a:prstGeom>
        </p:spPr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814012-DB5D-4BE5-A41C-476683FED0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14332" y="62364364"/>
            <a:ext cx="44850417" cy="176370327"/>
          </a:xfrm>
          <a:prstGeom prst="rect">
            <a:avLst/>
          </a:prstGeom>
        </p:spPr>
        <p:txBody>
          <a:bodyPr/>
          <a:lstStyle>
            <a:lvl1pPr>
              <a:buNone/>
              <a:defRPr sz="12800"/>
            </a:lvl1pPr>
            <a:lvl2pPr>
              <a:buNone/>
              <a:defRPr sz="11000"/>
            </a:lvl2pPr>
            <a:lvl3pPr>
              <a:buNone/>
              <a:defRPr sz="9100"/>
            </a:lvl3pPr>
            <a:lvl4pPr>
              <a:buNone/>
              <a:defRPr sz="8200"/>
            </a:lvl4pPr>
            <a:lvl5pPr>
              <a:buNone/>
              <a:defRPr sz="8200"/>
            </a:lvl5pPr>
            <a:lvl6pPr>
              <a:buNone/>
              <a:defRPr sz="8200"/>
            </a:lvl6pPr>
            <a:lvl7pPr>
              <a:buNone/>
              <a:defRPr sz="8200"/>
            </a:lvl7pPr>
            <a:lvl8pPr>
              <a:buNone/>
              <a:defRPr sz="8200"/>
            </a:lvl8pPr>
            <a:lvl9pPr>
              <a:buNone/>
              <a:defRPr sz="82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C240FD-1DDC-470C-9830-8D3309698940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50369338" y="62364364"/>
            <a:ext cx="44855671" cy="176370327"/>
          </a:xfrm>
          <a:prstGeom prst="rect">
            <a:avLst/>
          </a:prstGeom>
        </p:spPr>
        <p:txBody>
          <a:bodyPr/>
          <a:lstStyle>
            <a:lvl1pPr>
              <a:buNone/>
              <a:defRPr sz="12800"/>
            </a:lvl1pPr>
            <a:lvl2pPr>
              <a:buNone/>
              <a:defRPr sz="11000"/>
            </a:lvl2pPr>
            <a:lvl3pPr>
              <a:buNone/>
              <a:defRPr sz="9100"/>
            </a:lvl3pPr>
            <a:lvl4pPr>
              <a:buNone/>
              <a:defRPr sz="8200"/>
            </a:lvl4pPr>
            <a:lvl5pPr>
              <a:buNone/>
              <a:defRPr sz="8200"/>
            </a:lvl5pPr>
            <a:lvl6pPr>
              <a:buNone/>
              <a:defRPr sz="8200"/>
            </a:lvl6pPr>
            <a:lvl7pPr>
              <a:buNone/>
              <a:defRPr sz="8200"/>
            </a:lvl7pPr>
            <a:lvl8pPr>
              <a:buNone/>
              <a:defRPr sz="8200"/>
            </a:lvl8pPr>
            <a:lvl9pPr>
              <a:buNone/>
              <a:defRPr sz="82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8C335C-BAAC-4407-9CCA-92C4A22A7828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1513761" y="39680106"/>
            <a:ext cx="7064216" cy="2279327"/>
          </a:xfrm>
          <a:prstGeom prst="rect">
            <a:avLst/>
          </a:prstGeom>
        </p:spPr>
        <p:txBody>
          <a:bodyPr/>
          <a:lstStyle/>
          <a:p>
            <a:fld id="{1516A2DB-5E56-684A-96DC-9BEBC5CFD730}" type="datetimeFigureOut">
              <a:t>2026/7/28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113394-0045-4565-B3F1-EF44FA9F4FED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10344031" y="39680106"/>
            <a:ext cx="9587151" cy="2279327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611F72-7A8C-4EB5-9E02-28CCE964B09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21697236" y="39680106"/>
            <a:ext cx="7064216" cy="2279327"/>
          </a:xfrm>
          <a:prstGeom prst="rect">
            <a:avLst/>
          </a:prstGeom>
        </p:spPr>
        <p:txBody>
          <a:bodyPr/>
          <a:lstStyle/>
          <a:p>
            <a:fld id="{0CB39F1A-5E86-644C-9604-CE1653FC42E0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9EDB0D-CB70-4C0F-AFD3-E914CC6FA2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3761" y="1714453"/>
            <a:ext cx="27247692" cy="7135283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6D267F-AB9D-47B8-ACBA-565CB5467B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13761" y="9583085"/>
            <a:ext cx="13376810" cy="3993774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1000" b="1"/>
            </a:lvl1pPr>
            <a:lvl2pPr marL="2088170" indent="0">
              <a:buNone/>
              <a:defRPr sz="9100" b="1"/>
            </a:lvl2pPr>
            <a:lvl3pPr marL="4176339" indent="0">
              <a:buNone/>
              <a:defRPr sz="8200" b="1"/>
            </a:lvl3pPr>
            <a:lvl4pPr marL="6264509" indent="0">
              <a:buNone/>
              <a:defRPr sz="7300" b="1"/>
            </a:lvl4pPr>
            <a:lvl5pPr marL="8352678" indent="0">
              <a:buNone/>
              <a:defRPr sz="7300" b="1"/>
            </a:lvl5pPr>
            <a:lvl6pPr marL="10440848" indent="0">
              <a:buNone/>
              <a:defRPr sz="7300" b="1"/>
            </a:lvl6pPr>
            <a:lvl7pPr marL="12529017" indent="0">
              <a:buNone/>
              <a:defRPr sz="7300" b="1"/>
            </a:lvl7pPr>
            <a:lvl8pPr marL="14617187" indent="0">
              <a:buNone/>
              <a:defRPr sz="7300" b="1"/>
            </a:lvl8pPr>
            <a:lvl9pPr marL="16705356" indent="0">
              <a:buNone/>
              <a:defRPr sz="73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4832EB-3F23-4016-AF5B-C9B2A31783CB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1513761" y="13576859"/>
            <a:ext cx="13376810" cy="24666281"/>
          </a:xfrm>
          <a:prstGeom prst="rect">
            <a:avLst/>
          </a:prstGeom>
        </p:spPr>
        <p:txBody>
          <a:bodyPr/>
          <a:lstStyle>
            <a:lvl1pPr>
              <a:buNone/>
              <a:defRPr sz="11000"/>
            </a:lvl1pPr>
            <a:lvl2pPr>
              <a:buNone/>
              <a:defRPr sz="9100"/>
            </a:lvl2pPr>
            <a:lvl3pPr>
              <a:buNone/>
              <a:defRPr sz="8200"/>
            </a:lvl3pPr>
            <a:lvl4pPr>
              <a:buNone/>
              <a:defRPr sz="7300"/>
            </a:lvl4pPr>
            <a:lvl5pPr>
              <a:buNone/>
              <a:defRPr sz="7300"/>
            </a:lvl5pPr>
            <a:lvl6pPr>
              <a:buNone/>
              <a:defRPr sz="7300"/>
            </a:lvl6pPr>
            <a:lvl7pPr>
              <a:buNone/>
              <a:defRPr sz="7300"/>
            </a:lvl7pPr>
            <a:lvl8pPr>
              <a:buNone/>
              <a:defRPr sz="7300"/>
            </a:lvl8pPr>
            <a:lvl9pPr>
              <a:buNone/>
              <a:defRPr sz="73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D41E574-1D5D-47D3-8558-C7FF31D026B0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15379389" y="9583085"/>
            <a:ext cx="13382065" cy="3993774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1000" b="1"/>
            </a:lvl1pPr>
            <a:lvl2pPr marL="2088170" indent="0">
              <a:buNone/>
              <a:defRPr sz="9100" b="1"/>
            </a:lvl2pPr>
            <a:lvl3pPr marL="4176339" indent="0">
              <a:buNone/>
              <a:defRPr sz="8200" b="1"/>
            </a:lvl3pPr>
            <a:lvl4pPr marL="6264509" indent="0">
              <a:buNone/>
              <a:defRPr sz="7300" b="1"/>
            </a:lvl4pPr>
            <a:lvl5pPr marL="8352678" indent="0">
              <a:buNone/>
              <a:defRPr sz="7300" b="1"/>
            </a:lvl5pPr>
            <a:lvl6pPr marL="10440848" indent="0">
              <a:buNone/>
              <a:defRPr sz="7300" b="1"/>
            </a:lvl6pPr>
            <a:lvl7pPr marL="12529017" indent="0">
              <a:buNone/>
              <a:defRPr sz="7300" b="1"/>
            </a:lvl7pPr>
            <a:lvl8pPr marL="14617187" indent="0">
              <a:buNone/>
              <a:defRPr sz="7300" b="1"/>
            </a:lvl8pPr>
            <a:lvl9pPr marL="16705356" indent="0">
              <a:buNone/>
              <a:defRPr sz="73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AC1FFDC-4C1B-4584-A5C9-B86E6FF9DC40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15379389" y="13576859"/>
            <a:ext cx="13382065" cy="24666281"/>
          </a:xfrm>
          <a:prstGeom prst="rect">
            <a:avLst/>
          </a:prstGeom>
        </p:spPr>
        <p:txBody>
          <a:bodyPr/>
          <a:lstStyle>
            <a:lvl1pPr>
              <a:buNone/>
              <a:defRPr sz="11000"/>
            </a:lvl1pPr>
            <a:lvl2pPr>
              <a:buNone/>
              <a:defRPr sz="9100"/>
            </a:lvl2pPr>
            <a:lvl3pPr>
              <a:buNone/>
              <a:defRPr sz="8200"/>
            </a:lvl3pPr>
            <a:lvl4pPr>
              <a:buNone/>
              <a:defRPr sz="7300"/>
            </a:lvl4pPr>
            <a:lvl5pPr>
              <a:buNone/>
              <a:defRPr sz="7300"/>
            </a:lvl5pPr>
            <a:lvl6pPr>
              <a:buNone/>
              <a:defRPr sz="7300"/>
            </a:lvl6pPr>
            <a:lvl7pPr>
              <a:buNone/>
              <a:defRPr sz="7300"/>
            </a:lvl7pPr>
            <a:lvl8pPr>
              <a:buNone/>
              <a:defRPr sz="7300"/>
            </a:lvl8pPr>
            <a:lvl9pPr>
              <a:buNone/>
              <a:defRPr sz="73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6C38805-42ED-4F6A-AD13-26D5E461CE48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1513761" y="39680106"/>
            <a:ext cx="7064216" cy="2279327"/>
          </a:xfrm>
          <a:prstGeom prst="rect">
            <a:avLst/>
          </a:prstGeom>
        </p:spPr>
        <p:txBody>
          <a:bodyPr/>
          <a:lstStyle/>
          <a:p>
            <a:fld id="{1516A2DB-5E56-684A-96DC-9BEBC5CFD730}" type="datetimeFigureOut">
              <a:t>2026/7/28</a:t>
            </a:fld>
            <a:endParaRPr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E21F87D-0164-4E20-A281-5AD62B0657E5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10344031" y="39680106"/>
            <a:ext cx="9587151" cy="2279327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EB890D3-B7EB-4F40-B80C-77FAA0F4408A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21697236" y="39680106"/>
            <a:ext cx="7064216" cy="2279327"/>
          </a:xfrm>
          <a:prstGeom prst="rect">
            <a:avLst/>
          </a:prstGeom>
        </p:spPr>
        <p:txBody>
          <a:bodyPr/>
          <a:lstStyle/>
          <a:p>
            <a:fld id="{0CB39F1A-5E86-644C-9604-CE1653FC42E0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09AC97-E305-42C2-B37A-791A59DE6C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3761" y="1714453"/>
            <a:ext cx="27247692" cy="7135283"/>
          </a:xfrm>
          <a:prstGeom prst="rect">
            <a:avLst/>
          </a:prstGeom>
        </p:spPr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2ECC864-2FF2-4766-805A-71D32BB5686F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1513761" y="39680106"/>
            <a:ext cx="7064216" cy="2279327"/>
          </a:xfrm>
          <a:prstGeom prst="rect">
            <a:avLst/>
          </a:prstGeom>
        </p:spPr>
        <p:txBody>
          <a:bodyPr/>
          <a:lstStyle/>
          <a:p>
            <a:fld id="{1516A2DB-5E56-684A-96DC-9BEBC5CFD730}" type="datetimeFigureOut">
              <a:t>2026/7/28</a:t>
            </a:fld>
            <a:endParaRPr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B9A50CC-1DC1-4866-AEAE-48BD852ADD0C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10344031" y="39680106"/>
            <a:ext cx="9587151" cy="2279327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13C41C3-F491-411D-88D3-A0EC33D4A37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21697236" y="39680106"/>
            <a:ext cx="7064216" cy="2279327"/>
          </a:xfrm>
          <a:prstGeom prst="rect">
            <a:avLst/>
          </a:prstGeom>
        </p:spPr>
        <p:txBody>
          <a:bodyPr/>
          <a:lstStyle/>
          <a:p>
            <a:fld id="{0CB39F1A-5E86-644C-9604-CE1653FC42E0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9436623-1C06-44AF-A57B-C6E049AD25B3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1513761" y="39680106"/>
            <a:ext cx="7064216" cy="2279327"/>
          </a:xfrm>
          <a:prstGeom prst="rect">
            <a:avLst/>
          </a:prstGeom>
        </p:spPr>
        <p:txBody>
          <a:bodyPr/>
          <a:lstStyle/>
          <a:p>
            <a:fld id="{1516A2DB-5E56-684A-96DC-9BEBC5CFD730}" type="datetimeFigureOut">
              <a:t>2026/7/28</a:t>
            </a:fld>
            <a:endParaRPr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A506FB6-A67E-4CD6-B05D-A2519C8C1988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10344031" y="39680106"/>
            <a:ext cx="9587151" cy="2279327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EF7E38-6828-4EC6-8447-1B8A9C8105C6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21697236" y="39680106"/>
            <a:ext cx="7064216" cy="2279327"/>
          </a:xfrm>
          <a:prstGeom prst="rect">
            <a:avLst/>
          </a:prstGeom>
        </p:spPr>
        <p:txBody>
          <a:bodyPr/>
          <a:lstStyle/>
          <a:p>
            <a:fld id="{0CB39F1A-5E86-644C-9604-CE1653FC42E0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1A6CAB-2E0D-4480-B874-14D8612DC6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3763" y="1704540"/>
            <a:ext cx="9960336" cy="7254205"/>
          </a:xfrm>
          <a:prstGeom prst="rect">
            <a:avLst/>
          </a:prstGeom>
        </p:spPr>
        <p:txBody>
          <a:bodyPr anchor="b"/>
          <a:lstStyle>
            <a:lvl1pPr algn="l">
              <a:buNone/>
              <a:defRPr sz="9100" b="1"/>
            </a:lvl1pPr>
          </a:lstStyle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6072E9-5F6B-425E-A591-E3743316EC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836767" y="1704543"/>
            <a:ext cx="16924685" cy="36538600"/>
          </a:xfrm>
          <a:prstGeom prst="rect">
            <a:avLst/>
          </a:prstGeom>
        </p:spPr>
        <p:txBody>
          <a:bodyPr/>
          <a:lstStyle>
            <a:lvl1pPr>
              <a:buNone/>
              <a:defRPr sz="14600"/>
            </a:lvl1pPr>
            <a:lvl2pPr>
              <a:buNone/>
              <a:defRPr sz="12800"/>
            </a:lvl2pPr>
            <a:lvl3pPr>
              <a:buNone/>
              <a:defRPr sz="11000"/>
            </a:lvl3pPr>
            <a:lvl4pPr>
              <a:buNone/>
              <a:defRPr sz="9100"/>
            </a:lvl4pPr>
            <a:lvl5pPr>
              <a:buNone/>
              <a:defRPr sz="9100"/>
            </a:lvl5pPr>
            <a:lvl6pPr>
              <a:buNone/>
              <a:defRPr sz="9100"/>
            </a:lvl6pPr>
            <a:lvl7pPr>
              <a:buNone/>
              <a:defRPr sz="9100"/>
            </a:lvl7pPr>
            <a:lvl8pPr>
              <a:buNone/>
              <a:defRPr sz="9100"/>
            </a:lvl8pPr>
            <a:lvl9pPr>
              <a:buNone/>
              <a:defRPr sz="91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DCBDCF-A56F-49E7-95DC-2BA1C8242EA9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1513763" y="8958748"/>
            <a:ext cx="9960336" cy="2928439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6400"/>
            </a:lvl1pPr>
            <a:lvl2pPr marL="2088170" indent="0">
              <a:buNone/>
              <a:defRPr sz="5500"/>
            </a:lvl2pPr>
            <a:lvl3pPr marL="4176339" indent="0">
              <a:buNone/>
              <a:defRPr sz="4600"/>
            </a:lvl3pPr>
            <a:lvl4pPr marL="6264509" indent="0">
              <a:buNone/>
              <a:defRPr sz="4100"/>
            </a:lvl4pPr>
            <a:lvl5pPr marL="8352678" indent="0">
              <a:buNone/>
              <a:defRPr sz="4100"/>
            </a:lvl5pPr>
            <a:lvl6pPr marL="10440848" indent="0">
              <a:buNone/>
              <a:defRPr sz="4100"/>
            </a:lvl6pPr>
            <a:lvl7pPr marL="12529017" indent="0">
              <a:buNone/>
              <a:defRPr sz="4100"/>
            </a:lvl7pPr>
            <a:lvl8pPr marL="14617187" indent="0">
              <a:buNone/>
              <a:defRPr sz="4100"/>
            </a:lvl8pPr>
            <a:lvl9pPr marL="16705356" indent="0">
              <a:buNone/>
              <a:defRPr sz="41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92B38D-16AC-4C22-8671-42D84F73A091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1513761" y="39680106"/>
            <a:ext cx="7064216" cy="2279327"/>
          </a:xfrm>
          <a:prstGeom prst="rect">
            <a:avLst/>
          </a:prstGeom>
        </p:spPr>
        <p:txBody>
          <a:bodyPr/>
          <a:lstStyle/>
          <a:p>
            <a:fld id="{1516A2DB-5E56-684A-96DC-9BEBC5CFD730}" type="datetimeFigureOut">
              <a:t>2026/7/28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75696B-B44F-475B-A606-BA68DAA2191B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10344031" y="39680106"/>
            <a:ext cx="9587151" cy="2279327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8D14F0-BCC6-4C47-8822-B17AB5269E36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21697236" y="39680106"/>
            <a:ext cx="7064216" cy="2279327"/>
          </a:xfrm>
          <a:prstGeom prst="rect">
            <a:avLst/>
          </a:prstGeom>
        </p:spPr>
        <p:txBody>
          <a:bodyPr/>
          <a:lstStyle/>
          <a:p>
            <a:fld id="{0CB39F1A-5E86-644C-9604-CE1653FC42E0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2C70C5-0290-4FA0-B5C1-A620422B6D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34154" y="29968190"/>
            <a:ext cx="18165128" cy="3537914"/>
          </a:xfrm>
          <a:prstGeom prst="rect">
            <a:avLst/>
          </a:prstGeom>
        </p:spPr>
        <p:txBody>
          <a:bodyPr anchor="b"/>
          <a:lstStyle>
            <a:lvl1pPr algn="l">
              <a:buNone/>
              <a:defRPr sz="9100" b="1"/>
            </a:lvl1pPr>
          </a:lstStyle>
          <a:p>
            <a:r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AE57890-B409-4DAC-8D24-B3372D69A22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934154" y="3825305"/>
            <a:ext cx="18165128" cy="2568702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600"/>
            </a:lvl1pPr>
            <a:lvl2pPr marL="2088170" indent="0">
              <a:buNone/>
              <a:defRPr sz="12800"/>
            </a:lvl2pPr>
            <a:lvl3pPr marL="4176339" indent="0">
              <a:buNone/>
              <a:defRPr sz="11000"/>
            </a:lvl3pPr>
            <a:lvl4pPr marL="6264509" indent="0">
              <a:buNone/>
              <a:defRPr sz="9100"/>
            </a:lvl4pPr>
            <a:lvl5pPr marL="8352678" indent="0">
              <a:buNone/>
              <a:defRPr sz="9100"/>
            </a:lvl5pPr>
            <a:lvl6pPr marL="10440848" indent="0">
              <a:buNone/>
              <a:defRPr sz="9100"/>
            </a:lvl6pPr>
            <a:lvl7pPr marL="12529017" indent="0">
              <a:buNone/>
              <a:defRPr sz="9100"/>
            </a:lvl7pPr>
            <a:lvl8pPr marL="14617187" indent="0">
              <a:buNone/>
              <a:defRPr sz="9100"/>
            </a:lvl8pPr>
            <a:lvl9pPr marL="16705356" indent="0">
              <a:buNone/>
              <a:defRPr sz="9100"/>
            </a:lvl9pPr>
          </a:lstStyle>
          <a:p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D1027B-CFB3-426C-9B31-88037D63972A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5934154" y="33506104"/>
            <a:ext cx="18165128" cy="502442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6400"/>
            </a:lvl1pPr>
            <a:lvl2pPr marL="2088170" indent="0">
              <a:buNone/>
              <a:defRPr sz="5500"/>
            </a:lvl2pPr>
            <a:lvl3pPr marL="4176339" indent="0">
              <a:buNone/>
              <a:defRPr sz="4600"/>
            </a:lvl3pPr>
            <a:lvl4pPr marL="6264509" indent="0">
              <a:buNone/>
              <a:defRPr sz="4100"/>
            </a:lvl4pPr>
            <a:lvl5pPr marL="8352678" indent="0">
              <a:buNone/>
              <a:defRPr sz="4100"/>
            </a:lvl5pPr>
            <a:lvl6pPr marL="10440848" indent="0">
              <a:buNone/>
              <a:defRPr sz="4100"/>
            </a:lvl6pPr>
            <a:lvl7pPr marL="12529017" indent="0">
              <a:buNone/>
              <a:defRPr sz="4100"/>
            </a:lvl7pPr>
            <a:lvl8pPr marL="14617187" indent="0">
              <a:buNone/>
              <a:defRPr sz="4100"/>
            </a:lvl8pPr>
            <a:lvl9pPr marL="16705356" indent="0">
              <a:buNone/>
              <a:defRPr sz="41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83D3E6-1155-4A35-81CE-254FBB8A6CE7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1513761" y="39680106"/>
            <a:ext cx="7064216" cy="2279327"/>
          </a:xfrm>
          <a:prstGeom prst="rect">
            <a:avLst/>
          </a:prstGeom>
        </p:spPr>
        <p:txBody>
          <a:bodyPr/>
          <a:lstStyle/>
          <a:p>
            <a:fld id="{1516A2DB-5E56-684A-96DC-9BEBC5CFD730}" type="datetimeFigureOut">
              <a:t>2026/7/28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73E8D3-F48B-46CA-9F75-26B19AD7C50D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10344031" y="39680106"/>
            <a:ext cx="9587151" cy="2279327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5FA4A4-793C-483D-BCE4-636A5B4430F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21697236" y="39680106"/>
            <a:ext cx="7064216" cy="2279327"/>
          </a:xfrm>
          <a:prstGeom prst="rect">
            <a:avLst/>
          </a:prstGeom>
        </p:spPr>
        <p:txBody>
          <a:bodyPr/>
          <a:lstStyle/>
          <a:p>
            <a:fld id="{0CB39F1A-5E86-644C-9604-CE1653FC42E0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98E119-37D9-4044-9102-53CBCD7CCD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3761" y="1714453"/>
            <a:ext cx="27247692" cy="7135283"/>
          </a:xfrm>
          <a:prstGeom prst="rect">
            <a:avLst/>
          </a:prstGeom>
        </p:spPr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BABA8C9-1609-492F-9C27-BC3DCA19BD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13761" y="9989400"/>
            <a:ext cx="27247692" cy="28253743"/>
          </a:xfrm>
          <a:prstGeom prst="rect">
            <a:avLst/>
          </a:prstGeom>
        </p:spPr>
        <p:txBody>
          <a:bodyPr vert="eaVert"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6788A9-0A22-49E2-A208-C16D3291AA70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1513761" y="39680106"/>
            <a:ext cx="7064216" cy="2279327"/>
          </a:xfrm>
          <a:prstGeom prst="rect">
            <a:avLst/>
          </a:prstGeom>
        </p:spPr>
        <p:txBody>
          <a:bodyPr/>
          <a:lstStyle/>
          <a:p>
            <a:fld id="{1516A2DB-5E56-684A-96DC-9BEBC5CFD730}" type="datetimeFigureOut">
              <a:t>2026/7/28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306DFA-00A8-408C-9949-59F474C6E9BE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10344031" y="39680106"/>
            <a:ext cx="9587151" cy="2279327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C178AE-4FB1-4F88-9FDF-30D4884DA9C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21697236" y="39680106"/>
            <a:ext cx="7064216" cy="2279327"/>
          </a:xfrm>
          <a:prstGeom prst="rect">
            <a:avLst/>
          </a:prstGeom>
        </p:spPr>
        <p:txBody>
          <a:bodyPr/>
          <a:lstStyle/>
          <a:p>
            <a:fld id="{0CB39F1A-5E86-644C-9604-CE1653FC42E0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1172EDE-6C23-4C2E-B909-61FE64ADFF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76283" y="10702928"/>
            <a:ext cx="22548726" cy="228031763"/>
          </a:xfrm>
          <a:prstGeom prst="rect">
            <a:avLst/>
          </a:prstGeom>
        </p:spPr>
        <p:txBody>
          <a:bodyPr vert="eaVert"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16B304D-2633-47BD-BA0B-D3342EC933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014332" y="10702928"/>
            <a:ext cx="67157362" cy="228031763"/>
          </a:xfrm>
          <a:prstGeom prst="rect">
            <a:avLst/>
          </a:prstGeom>
        </p:spPr>
        <p:txBody>
          <a:bodyPr vert="eaVert"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3070ED-2C65-4A0A-8E0B-BA0C2F1F1536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1513761" y="39680106"/>
            <a:ext cx="7064216" cy="2279327"/>
          </a:xfrm>
          <a:prstGeom prst="rect">
            <a:avLst/>
          </a:prstGeom>
        </p:spPr>
        <p:txBody>
          <a:bodyPr/>
          <a:lstStyle/>
          <a:p>
            <a:fld id="{1516A2DB-5E56-684A-96DC-9BEBC5CFD730}" type="datetimeFigureOut">
              <a:t>2026/7/28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02E37B-0EBC-4D97-8B7F-31BDD7EE5B42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10344031" y="39680106"/>
            <a:ext cx="9587151" cy="2279327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BC9B32-1A9D-41EB-9650-5FB73E1E525A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21697236" y="39680106"/>
            <a:ext cx="7064216" cy="2279327"/>
          </a:xfrm>
          <a:prstGeom prst="rect">
            <a:avLst/>
          </a:prstGeom>
        </p:spPr>
        <p:txBody>
          <a:bodyPr/>
          <a:lstStyle/>
          <a:p>
            <a:fld id="{0CB39F1A-5E86-644C-9604-CE1653FC42E0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5067BE-E559-4331-922E-78462D6CBE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70125" y="13300075"/>
            <a:ext cx="25734963" cy="9175750"/>
          </a:xfrm>
        </p:spPr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31C9CA4-6A29-4B6E-8B77-A9090C7513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41838" y="24260175"/>
            <a:ext cx="21191537" cy="109410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1D5EFB-C74B-4D5F-9786-703A06E65A3F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444A8215-E8B9-405B-91CC-893BF70F5D1D}" type="datetimeFigureOut">
              <a:t>2026/7/28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216EB5-E87B-44E8-A57F-7EB3EC1F1A6C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20E6CB-FE54-42D2-BDE2-8C7DD4E5382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39483D4-2F32-41B7-8A90-D0E8F81D7F79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4B6B42-DCC8-484E-94B0-89AA7B46BD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9ED3B0-0E70-4780-97C1-ACF289C0E0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5CDED0-769B-433E-9CD6-F3A5CF3746CA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444A8215-E8B9-405B-91CC-893BF70F5D1D}" type="datetimeFigureOut">
              <a:t>2026/7/28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6632E-5D28-47FD-9EB9-7C76BAB60FBB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1C40F2-7211-4E65-82A6-64030D67F4A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39483D4-2F32-41B7-8A90-D0E8F81D7F79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AFF89C-21E5-4F62-B09D-B809BF3248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90775" y="27509788"/>
            <a:ext cx="25734963" cy="8504237"/>
          </a:xfrm>
        </p:spPr>
        <p:txBody>
          <a:bodyPr anchor="t"/>
          <a:lstStyle>
            <a:lvl1pPr algn="l">
              <a:buNone/>
              <a:defRPr sz="4000" b="1" cap="all"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3C5D7D-62BC-4823-9E1B-C2C65F7185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390775" y="18145125"/>
            <a:ext cx="25734963" cy="9364663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7A5996-9848-4447-BC2D-2009A67CC184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444A8215-E8B9-405B-91CC-893BF70F5D1D}" type="datetimeFigureOut">
              <a:t>2026/7/28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65807B-2519-4704-BDE7-AD74E39DD76C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039C9A-A1DC-49B5-B705-039557A848B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39483D4-2F32-41B7-8A90-D0E8F81D7F79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0FDB68-8AB9-454D-B4B2-07DA8CC6DC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32026B-0C64-4066-90C2-7128DC5F29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14475" y="9990138"/>
            <a:ext cx="13546138" cy="28252737"/>
          </a:xfrm>
        </p:spPr>
        <p:txBody>
          <a:bodyPr/>
          <a:lstStyle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D53F50-1ED0-4CAC-80B8-94A422F1F713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15213013" y="9990138"/>
            <a:ext cx="13547725" cy="28252737"/>
          </a:xfrm>
        </p:spPr>
        <p:txBody>
          <a:bodyPr/>
          <a:lstStyle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7A97B3-BEE9-4C70-BBC7-C8B18EA64A46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444A8215-E8B9-405B-91CC-893BF70F5D1D}" type="datetimeFigureOut">
              <a:t>2026/7/28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2A626B-22E6-487F-98BB-0E5DCBA0098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5C5B00-A769-4BBE-B34F-A571909EC36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39483D4-2F32-41B7-8A90-D0E8F81D7F79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E88246-D97D-4D40-8D62-E51DF37003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9BF13F-262F-45D0-BE77-C37D0E0A16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14475" y="9583738"/>
            <a:ext cx="13376275" cy="39925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63F0456-4DE1-4C5F-8014-E7E713945D04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1514475" y="13576300"/>
            <a:ext cx="13376275" cy="24666575"/>
          </a:xfrm>
        </p:spPr>
        <p:txBody>
          <a:bodyPr/>
          <a:lstStyle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1D614E6-A841-466B-90A9-F66510403EB9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15379700" y="9583738"/>
            <a:ext cx="13381038" cy="39925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523AA0B-E03E-498E-A167-71C65D0738C0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15379700" y="13576300"/>
            <a:ext cx="13381038" cy="24666575"/>
          </a:xfrm>
        </p:spPr>
        <p:txBody>
          <a:bodyPr/>
          <a:lstStyle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9725188-5267-42CD-91BD-C3C101DB4F1F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444A8215-E8B9-405B-91CC-893BF70F5D1D}" type="datetimeFigureOut">
              <a:t>2026/7/28</a:t>
            </a:fld>
            <a:endParaRPr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7E74BC0-B672-4205-9708-039093DA533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B1F0075-62C9-4EF9-B471-6725A968F97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39483D4-2F32-41B7-8A90-D0E8F81D7F79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F398B5-269F-4997-A2EC-4DB534EFC2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74FD5C2-1072-4F11-8E4E-FBA2A16818B8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444A8215-E8B9-405B-91CC-893BF70F5D1D}" type="datetimeFigureOut">
              <a:t>2026/7/28</a:t>
            </a:fld>
            <a:endParaRPr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1B4C92-FB3E-4A6A-BCFD-66F8AB9C1AA2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B0D369-94FD-452F-BD58-7F9D81E900C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39483D4-2F32-41B7-8A90-D0E8F81D7F79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22ABD4A-7306-4ACD-AB2B-24942F778CA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444A8215-E8B9-405B-91CC-893BF70F5D1D}" type="datetimeFigureOut">
              <a:t>2026/7/28</a:t>
            </a:fld>
            <a:endParaRPr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1A0A463-5EA1-4FCE-9D46-026B9A09FB2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DE118C-CBEF-48BB-8187-B56390EA02B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39483D4-2F32-41B7-8A90-D0E8F81D7F79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7E9A59-6D04-45A1-AA1F-59E78F7EDE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4475" y="1704975"/>
            <a:ext cx="9959975" cy="7253288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CE9506-2ED0-49F1-866F-2C354D87F1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836400" y="1704975"/>
            <a:ext cx="16924338" cy="36537900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6926303-F03B-4886-8B59-A0C98A72AFCC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1514475" y="8958263"/>
            <a:ext cx="9959975" cy="2928461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4BB55C-3892-4B28-8851-16DD1D2A5D7C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444A8215-E8B9-405B-91CC-893BF70F5D1D}" type="datetimeFigureOut">
              <a:t>2026/7/28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E39023-755C-499C-9B4D-756A7EACC8D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6F0323-9100-48CB-9923-C9E726B76F1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39483D4-2F32-41B7-8A90-D0E8F81D7F79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A0233-5E93-46B6-9410-0030485045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34075" y="29968825"/>
            <a:ext cx="18165763" cy="353695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1D5C9F0-CB7E-4AB0-91E4-1F70A93BF4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934075" y="3825875"/>
            <a:ext cx="18165763" cy="256857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6918A64-BC11-495A-BB2B-3A887A7CA01F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5934075" y="33505775"/>
            <a:ext cx="18165763" cy="502443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7B4817-ECEE-4A9F-9948-2311AB121A5D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444A8215-E8B9-405B-91CC-893BF70F5D1D}" type="datetimeFigureOut">
              <a:t>2026/7/28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899654-DEB2-4172-8BA7-662DDE9BEB4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EAD63B-A53A-4FD8-AACD-BAE4AA6DFA5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39483D4-2F32-41B7-8A90-D0E8F81D7F79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62AC32-D687-4779-9782-9050294135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122E8D-AF6D-4E1C-B833-A3A9F746F7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361E08-1012-4E30-8C17-893D91F680DE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444A8215-E8B9-405B-91CC-893BF70F5D1D}" type="datetimeFigureOut">
              <a:t>2026/7/28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7356F3-439B-47F4-A6F0-190EC29519D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590506-4FA1-47A8-B399-F76ED610834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39483D4-2F32-41B7-8A90-D0E8F81D7F79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A1C4EF0-EDB1-41BF-AD3E-3A87819DA2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950363" y="1714500"/>
            <a:ext cx="6810375" cy="36528375"/>
          </a:xfrm>
        </p:spPr>
        <p:txBody>
          <a:bodyPr vert="eaVert"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0A6C2C0-B1A1-4016-AE51-851A2FC524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14475" y="1714500"/>
            <a:ext cx="20283488" cy="36528375"/>
          </a:xfrm>
        </p:spPr>
        <p:txBody>
          <a:bodyPr vert="eaVert"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9319ED-4CFE-46A3-93E4-7EC1498D3476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444A8215-E8B9-405B-91CC-893BF70F5D1D}" type="datetimeFigureOut">
              <a:t>2026/7/28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C122AC-B4DE-4CEB-B816-39679754E113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66CF43-DBFD-4A09-BAD7-0E79616F57A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39483D4-2F32-41B7-8A90-D0E8F81D7F79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E4AB47-3CD5-4420-A619-DE8026FB49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70125" y="13300075"/>
            <a:ext cx="25734963" cy="9175750"/>
          </a:xfrm>
        </p:spPr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39DA8AB-8151-43F8-9F6B-1154F5591F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41838" y="24260175"/>
            <a:ext cx="21191537" cy="109410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3E1A59-610B-4548-A81B-83BCA3C740AC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ACD5F50D-CA1B-4AE8-85A0-B23159DAF3E3}" type="datetimeFigureOut">
              <a:t>2026/7/28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68E7AA-E7DA-4285-AEB5-5D6294348E2B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4835B4-E61B-4930-946E-4908F91DF8D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381A9CB-ED5C-4579-B3C2-C84641D92BA3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067679-79F5-4655-9BC4-97E8F4083F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8D1B97-6219-4591-8A8B-0FD4DD311B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9EEF64-5ADD-40F2-93F4-4283491A4129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ACD5F50D-CA1B-4AE8-85A0-B23159DAF3E3}" type="datetimeFigureOut">
              <a:t>2026/7/28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FBA9C4-7ABD-4F62-A592-787D06ABF5D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460478-B504-4E71-BA9E-F5F1B19F4EC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381A9CB-ED5C-4579-B3C2-C84641D92BA3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4B592B-FF8D-4A4A-B1E2-4F926FAA7E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90775" y="27509788"/>
            <a:ext cx="25734963" cy="8504237"/>
          </a:xfrm>
        </p:spPr>
        <p:txBody>
          <a:bodyPr anchor="t"/>
          <a:lstStyle>
            <a:lvl1pPr algn="l">
              <a:buNone/>
              <a:defRPr sz="4000" b="1" cap="all"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DE0019-3658-4D41-A9DC-E605F7A428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390775" y="18145125"/>
            <a:ext cx="25734963" cy="9364663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F24B64-91CE-4624-9E02-6A53131703C6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ACD5F50D-CA1B-4AE8-85A0-B23159DAF3E3}" type="datetimeFigureOut">
              <a:t>2026/7/28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7D3AA0-F98D-41B2-A9EC-FB7AFE184225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8F1556-49EE-4417-9BE0-D6437926C0B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381A9CB-ED5C-4579-B3C2-C84641D92BA3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6B7718-144C-4F02-9757-474F8E1B5C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03DC3D-0175-4B1F-BF25-5F57C61E53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14475" y="9990138"/>
            <a:ext cx="13546138" cy="28252737"/>
          </a:xfrm>
        </p:spPr>
        <p:txBody>
          <a:bodyPr/>
          <a:lstStyle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D26090-CE81-4B61-AA5C-90A01DF2F53C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15213013" y="9990138"/>
            <a:ext cx="13547725" cy="28252737"/>
          </a:xfrm>
        </p:spPr>
        <p:txBody>
          <a:bodyPr/>
          <a:lstStyle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60E35F-383D-47D2-981F-C12555AA6C88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ACD5F50D-CA1B-4AE8-85A0-B23159DAF3E3}" type="datetimeFigureOut">
              <a:t>2026/7/28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E6608C-A35B-435E-B2EA-0F08FDE508D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D5F6A6-B278-4B73-A875-7DCB58F6E6E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381A9CB-ED5C-4579-B3C2-C84641D92BA3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ED8C66-4527-4259-AE77-47C72112A3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178883-85E1-46FF-93C2-F4801CACD0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14475" y="9583738"/>
            <a:ext cx="13376275" cy="39925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931FB5-E4CD-494C-8FC7-6E6DA1B02E8A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1514475" y="13576300"/>
            <a:ext cx="13376275" cy="24666575"/>
          </a:xfrm>
        </p:spPr>
        <p:txBody>
          <a:bodyPr/>
          <a:lstStyle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36A95F1-3003-4573-802A-2CD955212351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15379700" y="9583738"/>
            <a:ext cx="13381038" cy="39925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694E564-D976-4889-9D1D-48F877778868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15379700" y="13576300"/>
            <a:ext cx="13381038" cy="24666575"/>
          </a:xfrm>
        </p:spPr>
        <p:txBody>
          <a:bodyPr/>
          <a:lstStyle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EC5E650-4342-4221-BC32-45CAF2B341D1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ACD5F50D-CA1B-4AE8-85A0-B23159DAF3E3}" type="datetimeFigureOut">
              <a:t>2026/7/28</a:t>
            </a:fld>
            <a:endParaRPr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884A27-EA35-4C16-97B5-6F67A7E9795E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BDE1A64-C7CE-4F29-AF7E-C3BEFD60993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381A9CB-ED5C-4579-B3C2-C84641D92BA3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19AB4D-050F-48DD-A66E-58E9DA289F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D83D35-BCBD-4FC4-A289-9924BF01E162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ACD5F50D-CA1B-4AE8-85A0-B23159DAF3E3}" type="datetimeFigureOut">
              <a:t>2026/7/28</a:t>
            </a:fld>
            <a:endParaRPr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56DB7ED-C05E-4E60-A659-D28AF7A34BC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6DC663-32C4-41FC-AFCD-58DD365736B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381A9CB-ED5C-4579-B3C2-C84641D92BA3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0A5A7E2-A896-4C32-B5E9-46710F362914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ACD5F50D-CA1B-4AE8-85A0-B23159DAF3E3}" type="datetimeFigureOut">
              <a:t>2026/7/28</a:t>
            </a:fld>
            <a:endParaRPr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611DDB0-B1E8-4BA4-8D98-27FC1BC82D9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4CAB9D-9E4C-4534-95D4-8769DFAD744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381A9CB-ED5C-4579-B3C2-C84641D92BA3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C2BBB4-CB3C-4335-BADB-906A7865E6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4475" y="1704975"/>
            <a:ext cx="9959975" cy="7253288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686882-92A9-47B9-87A3-5D026493DF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836400" y="1704975"/>
            <a:ext cx="16924338" cy="36537900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40907A-38B8-4001-8A7D-DFB5D797427F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1514475" y="8958263"/>
            <a:ext cx="9959975" cy="2928461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CC75CD-05F2-4A5B-B493-B403C368B3A6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ACD5F50D-CA1B-4AE8-85A0-B23159DAF3E3}" type="datetimeFigureOut">
              <a:t>2026/7/28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4A229F-B11F-4518-AB9A-CF89423C2D17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B9CD9F-7320-414F-93A7-BF9E6C4C158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381A9CB-ED5C-4579-B3C2-C84641D92BA3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4B724C-4E9D-4F63-9BF2-AB57333A17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34075" y="29968825"/>
            <a:ext cx="18165763" cy="353695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449D5DE-E08F-4C70-A7D8-80394FDB84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934075" y="3825875"/>
            <a:ext cx="18165763" cy="256857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0FF9BE-0122-4AEA-B8F8-5635E91E4786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5934075" y="33505775"/>
            <a:ext cx="18165763" cy="502443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9A4D4C-6966-4947-BEDB-585659B0EF2E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ACD5F50D-CA1B-4AE8-85A0-B23159DAF3E3}" type="datetimeFigureOut">
              <a:t>2026/7/28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2B072F-AA92-4C43-AE39-4FB090209643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BFF0C5-FC76-4BFC-B6AD-8D92425AC4A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381A9CB-ED5C-4579-B3C2-C84641D92BA3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6FAB98-F78C-46F8-BFC1-F053C673E1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700828-4FA6-49B7-AF03-99ED463620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41904F-EAC4-4D1A-B6B5-8C1C086124F8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ACD5F50D-CA1B-4AE8-85A0-B23159DAF3E3}" type="datetimeFigureOut">
              <a:t>2026/7/28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9307EE-2332-4E11-8CE7-4FBA4287D6BA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0C6261-01EF-4AC1-A53E-124774C5B71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381A9CB-ED5C-4579-B3C2-C84641D92BA3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FA3820C-800A-45C0-BA34-90E24D346F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950363" y="1714500"/>
            <a:ext cx="6810375" cy="36528375"/>
          </a:xfrm>
        </p:spPr>
        <p:txBody>
          <a:bodyPr vert="eaVert"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A7676C2-EFFE-44CD-A92D-608DD9EE80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14475" y="1714500"/>
            <a:ext cx="20283488" cy="36528375"/>
          </a:xfrm>
        </p:spPr>
        <p:txBody>
          <a:bodyPr vert="eaVert"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48007F-63E5-43A0-9C27-B6057AA411E0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ACD5F50D-CA1B-4AE8-85A0-B23159DAF3E3}" type="datetimeFigureOut">
              <a:t>2026/7/28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4E1A05-691D-42EB-808E-CD1047A38080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C7F73B-6626-4D7E-9630-CB051BE0122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381A9CB-ED5C-4579-B3C2-C84641D92BA3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7E156B-8244-44B1-B5A3-B5934E5BB8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70125" y="13300075"/>
            <a:ext cx="25734963" cy="9175750"/>
          </a:xfrm>
        </p:spPr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3ABBD00-288C-474D-95F2-92F3CB30E9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41838" y="24260175"/>
            <a:ext cx="21191537" cy="109410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5A8076-E6FE-4036-BC56-FE5538B62E6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AB0559A7-9A97-44F2-90C7-49938F5CA556}" type="datetimeFigureOut">
              <a:t>2026/7/28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AC23AB-034E-46D6-856A-750BD8F6A1AE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2DEDDC-4EE3-4AFF-973A-36AF4AA5DB0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2722BE7-51AC-4551-A028-822C533957BD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4A6A2F-6C6D-41B6-8173-267AE923D2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B89247-C704-4B46-B7AA-158623F30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E1B85E-94B6-4125-A4CA-B16F09963959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AB0559A7-9A97-44F2-90C7-49938F5CA556}" type="datetimeFigureOut">
              <a:t>2026/7/28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007E71-F591-4DC4-A986-9BE9A3F7E9F1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BB2B80-B64A-4588-8AF3-642C52B92EE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2722BE7-51AC-4551-A028-822C533957BD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3F0073-F48A-4080-AAD6-E12663321D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90775" y="27509788"/>
            <a:ext cx="25734963" cy="8504237"/>
          </a:xfrm>
        </p:spPr>
        <p:txBody>
          <a:bodyPr anchor="t"/>
          <a:lstStyle>
            <a:lvl1pPr algn="l">
              <a:buNone/>
              <a:defRPr sz="4000" b="1" cap="all"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2291BE-EF9D-4ADC-8BF4-81B42FE6FF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390775" y="18145125"/>
            <a:ext cx="25734963" cy="9364663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296AA2-7A0F-482C-B7E3-15BDBD9462B5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AB0559A7-9A97-44F2-90C7-49938F5CA556}" type="datetimeFigureOut">
              <a:t>2026/7/28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FD1D3E-247E-4AFB-901E-24842A00B5E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0B0CB3-C20E-457A-A3A5-6EA3652ABB7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2722BE7-51AC-4551-A028-822C533957BD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CBF0CC-2819-4FE4-AFF7-1C7AF0C876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45FBFB-E7D8-4823-A3CF-FB0590098A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14475" y="9990138"/>
            <a:ext cx="13546138" cy="28252737"/>
          </a:xfrm>
        </p:spPr>
        <p:txBody>
          <a:bodyPr/>
          <a:lstStyle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6E129D-68F3-4312-A988-79A749C08145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15213013" y="9990138"/>
            <a:ext cx="13547725" cy="28252737"/>
          </a:xfrm>
        </p:spPr>
        <p:txBody>
          <a:bodyPr/>
          <a:lstStyle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3C605B-F85D-4780-93B8-970B6AF20B2F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AB0559A7-9A97-44F2-90C7-49938F5CA556}" type="datetimeFigureOut">
              <a:t>2026/7/28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23EDEC-DFA6-4F4C-B73C-11AC1F86CF7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2D31A2-FDF1-4401-81C4-846A0DF0829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2722BE7-51AC-4551-A028-822C533957BD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EDCD99-BB96-4AAA-9225-D0F464D2F7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726E7C-0D1C-4207-921A-062ACA2AA4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14475" y="9583738"/>
            <a:ext cx="13376275" cy="39925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BD32BC-060E-4210-BB37-B369CFC23868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1514475" y="13576300"/>
            <a:ext cx="13376275" cy="24666575"/>
          </a:xfrm>
        </p:spPr>
        <p:txBody>
          <a:bodyPr/>
          <a:lstStyle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A3C23B2-A03E-48B9-A7BD-F4C0C20C91A3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15379700" y="9583738"/>
            <a:ext cx="13381038" cy="39925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40BD948-BBC7-481A-822E-EB633AA4317B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15379700" y="13576300"/>
            <a:ext cx="13381038" cy="24666575"/>
          </a:xfrm>
        </p:spPr>
        <p:txBody>
          <a:bodyPr/>
          <a:lstStyle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2AE811D-129E-473F-A2AB-9ABE4B4D18A4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AB0559A7-9A97-44F2-90C7-49938F5CA556}" type="datetimeFigureOut">
              <a:t>2026/7/28</a:t>
            </a:fld>
            <a:endParaRPr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E5E035F-04EC-4DBC-AFA5-265E9D04CD1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7F266F5-76CE-44B6-A6B8-61212E769F3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2722BE7-51AC-4551-A028-822C533957BD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3E72F1-5FF7-4503-8E5B-657C519BFB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69504D1-7215-497B-98A9-43B60CD80DEC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AB0559A7-9A97-44F2-90C7-49938F5CA556}" type="datetimeFigureOut">
              <a:t>2026/7/28</a:t>
            </a:fld>
            <a:endParaRPr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495A3BF-4389-4E06-8E49-42ABB42B5D23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8B1604D-87D3-4B8D-A9D3-BC0614FD661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2722BE7-51AC-4551-A028-822C533957BD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321743B-C358-4706-8334-98BEE9069A7D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AB0559A7-9A97-44F2-90C7-49938F5CA556}" type="datetimeFigureOut">
              <a:t>2026/7/28</a:t>
            </a:fld>
            <a:endParaRPr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E3CBDDB-4AC3-44B6-B6E9-9883D6285472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42AF5B-F8F1-4F78-80E7-303D7D08243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2722BE7-51AC-4551-A028-822C533957BD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5B90E3-8775-4994-9655-ADDAC780CB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4475" y="1704975"/>
            <a:ext cx="9959975" cy="7253288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C0818D-13F8-4A13-9EFE-018B87DE9A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836400" y="1704975"/>
            <a:ext cx="16924338" cy="36537900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79FC362-3F22-4113-A86C-6EC7C3706501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1514475" y="8958263"/>
            <a:ext cx="9959975" cy="2928461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7A83E2-6327-4C61-8577-89A2DDAFC182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AB0559A7-9A97-44F2-90C7-49938F5CA556}" type="datetimeFigureOut">
              <a:t>2026/7/28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1C3F64-2177-4569-A42E-2697C5D5B5A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52725C-8469-4D71-9ABC-2D8CE980F8D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2722BE7-51AC-4551-A028-822C533957BD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600F4-4E9B-4328-937E-088791281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34075" y="29968825"/>
            <a:ext cx="18165763" cy="353695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7BF3093-5F0D-43BE-A2F9-2C798DED9E6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934075" y="3825875"/>
            <a:ext cx="18165763" cy="256857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0EFEEF-256B-4B28-8779-6E1EBE3B4B7F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5934075" y="33505775"/>
            <a:ext cx="18165763" cy="502443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4E386F-7B44-4772-BCED-D2B720E4C4E1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AB0559A7-9A97-44F2-90C7-49938F5CA556}" type="datetimeFigureOut">
              <a:t>2026/7/28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7A9FC4-D5AA-4E5F-ABA6-7E4B4A2EEA3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AB3CFA-C23E-4A48-B8EB-4053030F698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2722BE7-51AC-4551-A028-822C533957BD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FE2070-3BF7-4DD9-8F7F-8AC0566E31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534B4D0-DF65-40FC-B285-DA1892FF4C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469348-871B-42E1-96E2-1011473DA0F3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AB0559A7-9A97-44F2-90C7-49938F5CA556}" type="datetimeFigureOut">
              <a:t>2026/7/28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D340D8-C290-4D1B-9A75-94C3B8188A6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7597FC-80B1-4F82-9B7B-8BBFF99A84E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2722BE7-51AC-4551-A028-822C533957BD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EFF0362-0BF5-4E45-BB89-07661AD157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950363" y="1714500"/>
            <a:ext cx="6810375" cy="36528375"/>
          </a:xfrm>
        </p:spPr>
        <p:txBody>
          <a:bodyPr vert="eaVert"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E25EECD-C7E7-46E7-8746-0E62653EC7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14475" y="1714500"/>
            <a:ext cx="20283488" cy="36528375"/>
          </a:xfrm>
        </p:spPr>
        <p:txBody>
          <a:bodyPr vert="eaVert"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C10BB8-2F45-4CB4-A9A7-158ED45BEC82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AB0559A7-9A97-44F2-90C7-49938F5CA556}" type="datetimeFigureOut">
              <a:t>2026/7/28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19EF3E-AD19-45A0-A4E0-2AF5CB35E96C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C7A14D-6A09-46B0-8ADD-A2A7E6F30F8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2722BE7-51AC-4551-A028-822C533957BD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1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-1" y="0"/>
            <a:ext cx="30275213" cy="379987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D6157E4-4F05-4611-B3E2-63A01C462AE6}"/>
              </a:ext>
            </a:extLst>
          </p:cNvPr>
          <p:cNvSpPr>
            <a:spLocks noGrp="1"/>
          </p:cNvSpPr>
          <p:nvPr/>
        </p:nvSpPr>
        <p:spPr>
          <a:xfrm>
            <a:off x="10491549" y="862280"/>
            <a:ext cx="928837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buNone/>
            </a:pPr>
            <a:r>
              <a:rPr sz="7200" b="0">
                <a:latin typeface="Arial"/>
                <a:ea typeface="Arial"/>
                <a:cs typeface="Arial"/>
              </a:rPr>
              <a:t>BE Thesis – S2/2016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2088170">
        <a:spcBef>
          <a:spcPct val="0"/>
        </a:spcBef>
        <a:buNone/>
        <a:defRPr sz="201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1566127" indent="-1566127" algn="l" defTabSz="2088170">
        <a:spcBef>
          <a:spcPct val="20000"/>
        </a:spcBef>
        <a:buFont typeface="Arial"/>
        <a:buChar char="•"/>
        <a:defRPr sz="14600" kern="1200">
          <a:solidFill>
            <a:schemeClr val="tx1"/>
          </a:solidFill>
          <a:latin typeface="+mn-lt"/>
          <a:ea typeface="+mn-lt"/>
          <a:cs typeface="+mn-lt"/>
        </a:defRPr>
      </a:lvl1pPr>
      <a:lvl2pPr marL="3393276" indent="-1305106" algn="l" defTabSz="2088170">
        <a:spcBef>
          <a:spcPct val="20000"/>
        </a:spcBef>
        <a:buFont typeface="Arial"/>
        <a:buChar char="–"/>
        <a:defRPr sz="12800" kern="1200">
          <a:solidFill>
            <a:schemeClr val="tx1"/>
          </a:solidFill>
          <a:latin typeface="+mn-lt"/>
          <a:ea typeface="+mn-lt"/>
          <a:cs typeface="+mn-lt"/>
        </a:defRPr>
      </a:lvl2pPr>
      <a:lvl3pPr marL="5220424" indent="-1044085" algn="l" defTabSz="2088170">
        <a:spcBef>
          <a:spcPct val="20000"/>
        </a:spcBef>
        <a:buFont typeface="Arial"/>
        <a:buChar char="•"/>
        <a:defRPr sz="11000" kern="1200">
          <a:solidFill>
            <a:schemeClr val="tx1"/>
          </a:solidFill>
          <a:latin typeface="+mn-lt"/>
          <a:ea typeface="+mn-lt"/>
          <a:cs typeface="+mn-lt"/>
        </a:defRPr>
      </a:lvl3pPr>
      <a:lvl4pPr marL="7308593" indent="-1044085" algn="l" defTabSz="2088170">
        <a:spcBef>
          <a:spcPct val="20000"/>
        </a:spcBef>
        <a:buFont typeface="Arial"/>
        <a:buChar char="–"/>
        <a:defRPr sz="9100" kern="1200">
          <a:solidFill>
            <a:schemeClr val="tx1"/>
          </a:solidFill>
          <a:latin typeface="+mn-lt"/>
          <a:ea typeface="+mn-lt"/>
          <a:cs typeface="+mn-lt"/>
        </a:defRPr>
      </a:lvl4pPr>
      <a:lvl5pPr marL="9396763" indent="-1044085" algn="l" defTabSz="2088170">
        <a:spcBef>
          <a:spcPct val="20000"/>
        </a:spcBef>
        <a:buFont typeface="Arial"/>
        <a:buChar char="»"/>
        <a:defRPr sz="9100" kern="1200">
          <a:solidFill>
            <a:schemeClr val="tx1"/>
          </a:solidFill>
          <a:latin typeface="+mn-lt"/>
          <a:ea typeface="+mn-lt"/>
          <a:cs typeface="+mn-lt"/>
        </a:defRPr>
      </a:lvl5pPr>
      <a:lvl6pPr marL="11484933" indent="-1044085" algn="l" defTabSz="2088170">
        <a:spcBef>
          <a:spcPct val="20000"/>
        </a:spcBef>
        <a:buFont typeface="Arial"/>
        <a:buChar char="•"/>
        <a:defRPr sz="9100" kern="1200">
          <a:solidFill>
            <a:schemeClr val="tx1"/>
          </a:solidFill>
          <a:latin typeface="+mn-lt"/>
          <a:ea typeface="+mn-lt"/>
          <a:cs typeface="+mn-lt"/>
        </a:defRPr>
      </a:lvl6pPr>
      <a:lvl7pPr marL="13573102" indent="-1044085" algn="l" defTabSz="2088170">
        <a:spcBef>
          <a:spcPct val="20000"/>
        </a:spcBef>
        <a:buFont typeface="Arial"/>
        <a:buChar char="•"/>
        <a:defRPr sz="9100" kern="1200">
          <a:solidFill>
            <a:schemeClr val="tx1"/>
          </a:solidFill>
          <a:latin typeface="+mn-lt"/>
          <a:ea typeface="+mn-lt"/>
          <a:cs typeface="+mn-lt"/>
        </a:defRPr>
      </a:lvl7pPr>
      <a:lvl8pPr marL="15661272" indent="-1044085" algn="l" defTabSz="2088170">
        <a:spcBef>
          <a:spcPct val="20000"/>
        </a:spcBef>
        <a:buFont typeface="Arial"/>
        <a:buChar char="•"/>
        <a:defRPr sz="9100" kern="1200">
          <a:solidFill>
            <a:schemeClr val="tx1"/>
          </a:solidFill>
          <a:latin typeface="+mn-lt"/>
          <a:ea typeface="+mn-lt"/>
          <a:cs typeface="+mn-lt"/>
        </a:defRPr>
      </a:lvl8pPr>
      <a:lvl9pPr marL="17749441" indent="-1044085" algn="l" defTabSz="2088170">
        <a:spcBef>
          <a:spcPct val="20000"/>
        </a:spcBef>
        <a:buFont typeface="Arial"/>
        <a:buChar char="•"/>
        <a:defRPr sz="91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2088170">
        <a:buNone/>
        <a:defRPr sz="8200" kern="1200">
          <a:solidFill>
            <a:schemeClr val="tx1"/>
          </a:solidFill>
          <a:latin typeface="+mn-lt"/>
          <a:ea typeface="+mn-lt"/>
          <a:cs typeface="+mn-lt"/>
        </a:defRPr>
      </a:lvl1pPr>
      <a:lvl2pPr marL="2088170" algn="l" defTabSz="2088170">
        <a:buNone/>
        <a:defRPr sz="8200" kern="1200">
          <a:solidFill>
            <a:schemeClr val="tx1"/>
          </a:solidFill>
          <a:latin typeface="+mn-lt"/>
          <a:ea typeface="+mn-lt"/>
          <a:cs typeface="+mn-lt"/>
        </a:defRPr>
      </a:lvl2pPr>
      <a:lvl3pPr marL="4176339" algn="l" defTabSz="2088170">
        <a:buNone/>
        <a:defRPr sz="8200" kern="1200">
          <a:solidFill>
            <a:schemeClr val="tx1"/>
          </a:solidFill>
          <a:latin typeface="+mn-lt"/>
          <a:ea typeface="+mn-lt"/>
          <a:cs typeface="+mn-lt"/>
        </a:defRPr>
      </a:lvl3pPr>
      <a:lvl4pPr marL="6264509" algn="l" defTabSz="2088170">
        <a:buNone/>
        <a:defRPr sz="8200" kern="1200">
          <a:solidFill>
            <a:schemeClr val="tx1"/>
          </a:solidFill>
          <a:latin typeface="+mn-lt"/>
          <a:ea typeface="+mn-lt"/>
          <a:cs typeface="+mn-lt"/>
        </a:defRPr>
      </a:lvl4pPr>
      <a:lvl5pPr marL="8352678" algn="l" defTabSz="2088170">
        <a:buNone/>
        <a:defRPr sz="8200" kern="1200">
          <a:solidFill>
            <a:schemeClr val="tx1"/>
          </a:solidFill>
          <a:latin typeface="+mn-lt"/>
          <a:ea typeface="+mn-lt"/>
          <a:cs typeface="+mn-lt"/>
        </a:defRPr>
      </a:lvl5pPr>
      <a:lvl6pPr marL="10440848" algn="l" defTabSz="2088170">
        <a:buNone/>
        <a:defRPr sz="8200" kern="1200">
          <a:solidFill>
            <a:schemeClr val="tx1"/>
          </a:solidFill>
          <a:latin typeface="+mn-lt"/>
          <a:ea typeface="+mn-lt"/>
          <a:cs typeface="+mn-lt"/>
        </a:defRPr>
      </a:lvl6pPr>
      <a:lvl7pPr marL="12529017" algn="l" defTabSz="2088170">
        <a:buNone/>
        <a:defRPr sz="8200" kern="1200">
          <a:solidFill>
            <a:schemeClr val="tx1"/>
          </a:solidFill>
          <a:latin typeface="+mn-lt"/>
          <a:ea typeface="+mn-lt"/>
          <a:cs typeface="+mn-lt"/>
        </a:defRPr>
      </a:lvl7pPr>
      <a:lvl8pPr marL="14617187" algn="l" defTabSz="2088170">
        <a:buNone/>
        <a:defRPr sz="8200" kern="1200">
          <a:solidFill>
            <a:schemeClr val="tx1"/>
          </a:solidFill>
          <a:latin typeface="+mn-lt"/>
          <a:ea typeface="+mn-lt"/>
          <a:cs typeface="+mn-lt"/>
        </a:defRPr>
      </a:lvl8pPr>
      <a:lvl9pPr marL="16705356" algn="l" defTabSz="2088170">
        <a:buNone/>
        <a:defRPr sz="82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BDB3850-18CB-4C0A-AE00-9D6B1467DE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4475" y="1714500"/>
            <a:ext cx="27246263" cy="713581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FC2FD5-D1B7-4244-960E-9F0ECE3A63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14475" y="9990138"/>
            <a:ext cx="27246263" cy="28252737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55FACD-AE7D-47A7-B785-47E1CC61F0CA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1514475" y="39679563"/>
            <a:ext cx="7062788" cy="2279650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4A8215-E8B9-405B-91CC-893BF70F5D1D}" type="datetimeFigureOut">
              <a:t>2026/7/28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09824B-B203-4E1E-86FB-608B20609769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10344150" y="39679563"/>
            <a:ext cx="9586913" cy="2279650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D3AA5D-F6E0-4E33-8C5F-D701B5FC617F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21697950" y="39679563"/>
            <a:ext cx="7062788" cy="2279650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9483D4-2F32-41B7-8A90-D0E8F81D7F79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4D85E76-0CA0-40E2-8910-53AE7CFF41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4475" y="1714500"/>
            <a:ext cx="27246263" cy="713581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3CBC6B-4811-4306-B587-349C4160FC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14475" y="9990138"/>
            <a:ext cx="27246263" cy="28252737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8C9BD2-8DD0-447D-A6F4-7542F1FC60E0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1514475" y="39679563"/>
            <a:ext cx="7062788" cy="2279650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D5F50D-CA1B-4AE8-85A0-B23159DAF3E3}" type="datetimeFigureOut">
              <a:t>2026/7/28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D1AE7C-63EB-4A91-9DEE-602DF51EBBAA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10344150" y="39679563"/>
            <a:ext cx="9586913" cy="2279650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04514A-34DF-4511-861B-335CA1F8C5AE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21697950" y="39679563"/>
            <a:ext cx="7062788" cy="2279650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81A9CB-ED5C-4579-B3C2-C84641D92BA3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D1EC3FB-CAFC-46AA-9348-C43C685825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4475" y="1714500"/>
            <a:ext cx="27246263" cy="713581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B1802B-33A5-492D-AA3C-87F305E984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14475" y="9990138"/>
            <a:ext cx="27246263" cy="28252737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E70C0C-98CF-4909-8664-B862070A7271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1514475" y="39679563"/>
            <a:ext cx="7062788" cy="2279650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0559A7-9A97-44F2-90C7-49938F5CA556}" type="datetimeFigureOut">
              <a:t>2026/7/28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6EA974-9304-48C3-AE6F-69423B2B0494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10344150" y="39679563"/>
            <a:ext cx="9586913" cy="2279650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217060-147F-43CC-822E-E083AD1DFB40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21697950" y="39679563"/>
            <a:ext cx="7062788" cy="2279650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722BE7-51AC-4551-A028-822C533957B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039E3FA2-F417-4890-9773-7329A40D9877}"/>
              </a:ext>
            </a:extLst>
          </p:cNvPr>
          <p:cNvSpPr>
            <a:spLocks noGrp="1"/>
          </p:cNvSpPr>
          <p:nvPr/>
        </p:nvSpPr>
        <p:spPr>
          <a:xfrm>
            <a:off x="1143000" y="5969000"/>
            <a:ext cx="27940000" cy="13542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3200" b="1">
                <a:solidFill>
                  <a:srgbClr val="10243E"/>
                </a:solidFill>
                <a:latin typeface="Arial" panose="020B0604020202020204" pitchFamily="34" charset="0"/>
                <a:ea typeface="Arial"/>
                <a:cs typeface="Arial"/>
              </a:rPr>
              <a:t>Robust Beamforming for Participation-Constrained</a:t>
            </a:r>
          </a:p>
          <a:p>
            <a:pPr algn="ctr">
              <a:buNone/>
            </a:pPr>
            <a:r>
              <a:rPr lang="en-US" sz="3200" b="1">
                <a:solidFill>
                  <a:srgbClr val="10243E"/>
                </a:solidFill>
                <a:latin typeface="Arial" panose="020B0604020202020204" pitchFamily="34" charset="0"/>
                <a:ea typeface="Arial"/>
                <a:cs typeface="Arial"/>
              </a:rPr>
              <a:t>Cell-Free ISAC Systems</a:t>
            </a:r>
          </a:p>
          <a:p>
            <a:pPr algn="ctr">
              <a:buNone/>
            </a:pPr>
            <a:r>
              <a:rPr lang="en-US" b="1">
                <a:solidFill>
                  <a:srgbClr val="10243E"/>
                </a:solidFill>
                <a:latin typeface="Arial" panose="020B0604020202020204" pitchFamily="34" charset="0"/>
                <a:ea typeface="Arial"/>
                <a:cs typeface="Arial"/>
              </a:rPr>
              <a:t>Xinpeng Yu | Supervisors: Derrick Ng and Shaokang Hu</a:t>
            </a:r>
            <a:endParaRPr b="1" i="1">
              <a:solidFill>
                <a:srgbClr val="10243E"/>
              </a:solidFill>
              <a:latin typeface="Arial" panose="020B0604020202020204" pitchFamily="34" charset="0"/>
              <a:ea typeface="Arial"/>
              <a:cs typeface="Arial"/>
            </a:endParaRPr>
          </a:p>
        </p:txBody>
      </p:sp>
      <p:sp>
        <p:nvSpPr>
          <p:cNvPr id="54" name="Rounded Rectangle 53">
            <a:extLst>
              <a:ext uri="{FF2B5EF4-FFF2-40B4-BE49-F238E27FC236}">
                <a16:creationId xmlns:a16="http://schemas.microsoft.com/office/drawing/2014/main" id="{96BA4BB9-C6E3-4442-A7F3-41BFD736FF05}"/>
              </a:ext>
            </a:extLst>
          </p:cNvPr>
          <p:cNvSpPr>
            <a:spLocks noGrp="1"/>
          </p:cNvSpPr>
          <p:nvPr/>
        </p:nvSpPr>
        <p:spPr>
          <a:xfrm>
            <a:off x="777707" y="37911314"/>
            <a:ext cx="28677537" cy="4252706"/>
          </a:xfrm>
          <a:prstGeom prst="roundRect">
            <a:avLst/>
          </a:prstGeom>
          <a:solidFill>
            <a:srgbClr val="B9C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56CF20C2-091B-4AF8-9A81-E7E7844FA8A2}"/>
              </a:ext>
            </a:extLst>
          </p:cNvPr>
          <p:cNvSpPr>
            <a:spLocks noGrp="1"/>
          </p:cNvSpPr>
          <p:nvPr/>
        </p:nvSpPr>
        <p:spPr>
          <a:xfrm>
            <a:off x="1347066" y="38379409"/>
            <a:ext cx="1262246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>
                <a:latin typeface="Arial"/>
                <a:ea typeface="Arial"/>
                <a:cs typeface="Arial"/>
              </a:rPr>
              <a:t>CONCLUSIONS, LIMITATIONS &amp; FUTURE WORK</a:t>
            </a:r>
            <a:endParaRPr sz="3600" b="1">
              <a:latin typeface="Arial"/>
              <a:ea typeface="Arial"/>
              <a:cs typeface="Arial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DC154571-5207-46E5-81CC-A8B7B4DEFFA2}"/>
              </a:ext>
            </a:extLst>
          </p:cNvPr>
          <p:cNvSpPr>
            <a:spLocks noGrp="1"/>
          </p:cNvSpPr>
          <p:nvPr/>
        </p:nvSpPr>
        <p:spPr>
          <a:xfrm>
            <a:off x="1347067" y="39179688"/>
            <a:ext cx="135255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>
                <a:latin typeface="Arial"/>
                <a:ea typeface="Arial"/>
                <a:cs typeface="Arial"/>
              </a:rPr>
              <a:t>Findings: sensing authorization is geometry-aware, and robust CSI protection is essential. The relaxed solution is accepted only after fixed-topology re-optimization and physical validation. Limitation: fronthaul and compute energy are not yet modelled. Future work: distributed optimization and hardware-in-the-loop validation.</a:t>
            </a:r>
            <a:endParaRPr sz="2400">
              <a:latin typeface="Arial"/>
              <a:ea typeface="Arial"/>
              <a:cs typeface="Arial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A62FC93-7B03-4244-A01F-D96006A7DA1D}"/>
              </a:ext>
            </a:extLst>
          </p:cNvPr>
          <p:cNvSpPr>
            <a:spLocks noGrp="1"/>
          </p:cNvSpPr>
          <p:nvPr/>
        </p:nvSpPr>
        <p:spPr>
          <a:xfrm>
            <a:off x="10754019" y="1816752"/>
            <a:ext cx="10132802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0" b="1">
                <a:latin typeface="Arial"/>
                <a:ea typeface="Arial"/>
                <a:cs typeface="Arial"/>
              </a:rPr>
              <a:t>Thesis  2026</a:t>
            </a:r>
          </a:p>
        </p:txBody>
      </p:sp>
      <p:sp>
        <p:nvSpPr>
          <p:cNvPr id="74" name="矩形 73">
            <a:extLst>
              <a:ext uri="{FF2B5EF4-FFF2-40B4-BE49-F238E27FC236}">
                <a16:creationId xmlns:a16="http://schemas.microsoft.com/office/drawing/2014/main" id="{8A8FB8FB-09FD-4AB3-89E6-A0BB81F27984}"/>
              </a:ext>
            </a:extLst>
          </p:cNvPr>
          <p:cNvSpPr>
            <a:spLocks noGrp="1"/>
          </p:cNvSpPr>
          <p:nvPr/>
        </p:nvSpPr>
        <p:spPr>
          <a:xfrm>
            <a:off x="15049500" y="38957250"/>
            <a:ext cx="38100" cy="28575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5" name="矩形 74">
            <a:extLst>
              <a:ext uri="{FF2B5EF4-FFF2-40B4-BE49-F238E27FC236}">
                <a16:creationId xmlns:a16="http://schemas.microsoft.com/office/drawing/2014/main" id="{176B3778-47AE-4F96-93BF-3442DFFC2FC5}"/>
              </a:ext>
            </a:extLst>
          </p:cNvPr>
          <p:cNvSpPr>
            <a:spLocks noGrp="1"/>
          </p:cNvSpPr>
          <p:nvPr/>
        </p:nvSpPr>
        <p:spPr>
          <a:xfrm>
            <a:off x="15621000" y="38385750"/>
            <a:ext cx="11906250" cy="495300"/>
          </a:xfrm>
          <a:prstGeom prst="rect">
            <a:avLst/>
          </a:prstGeom>
        </p:spPr>
        <p:txBody>
          <a:bodyPr anchor="ctr"/>
          <a:lstStyle/>
          <a:p>
            <a:pPr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KEY PARAMETERS</a:t>
            </a:r>
          </a:p>
        </p:txBody>
      </p:sp>
      <p:sp>
        <p:nvSpPr>
          <p:cNvPr id="76" name="矩形 75">
            <a:extLst>
              <a:ext uri="{FF2B5EF4-FFF2-40B4-BE49-F238E27FC236}">
                <a16:creationId xmlns:a16="http://schemas.microsoft.com/office/drawing/2014/main" id="{96A8895C-161B-4D97-AE42-C59A92548933}"/>
              </a:ext>
            </a:extLst>
          </p:cNvPr>
          <p:cNvSpPr>
            <a:spLocks noGrp="1"/>
          </p:cNvSpPr>
          <p:nvPr/>
        </p:nvSpPr>
        <p:spPr>
          <a:xfrm>
            <a:off x="15621000" y="39052500"/>
            <a:ext cx="11906250" cy="2571750"/>
          </a:xfrm>
          <a:prstGeom prst="rect">
            <a:avLst/>
          </a:prstGeom>
        </p:spPr>
        <p:txBody>
          <a:bodyPr wrap="square" anchor="ctr"/>
          <a:lstStyle/>
          <a:p>
            <a:pPr>
              <a:defRPr sz="2250">
                <a:solidFill>
                  <a:srgbClr val="111111"/>
                </a:solidFill>
              </a:defRPr>
            </a:pPr>
            <a:r>
              <a:rPr lang="en-US" sz="2250">
                <a:solidFill>
                  <a:srgbClr val="111111"/>
                </a:solidFill>
              </a:rPr>
              <a:t>Network: M=6 APs, N_t=2, K=3 UEs, P=2 targets</a:t>
            </a:r>
          </a:p>
          <a:p>
            <a:pPr>
              <a:defRPr sz="2250">
                <a:solidFill>
                  <a:srgbClr val="111111"/>
                </a:solidFill>
              </a:defRPr>
            </a:pPr>
            <a:r>
              <a:rPr lang="en-US" sz="2250">
                <a:solidFill>
                  <a:srgbClr val="111111"/>
                </a:solidFill>
              </a:rPr>
              <a:t>Area: 400 m x 400 m</a:t>
            </a:r>
          </a:p>
          <a:p>
            <a:pPr>
              <a:defRPr sz="2250">
                <a:solidFill>
                  <a:srgbClr val="111111"/>
                </a:solidFill>
              </a:defRPr>
            </a:pPr>
            <a:r>
              <a:rPr lang="en-US" sz="2250">
                <a:solidFill>
                  <a:srgbClr val="111111"/>
                </a:solidFill>
              </a:rPr>
              <a:t>Participation: N_req=2 to 6 (default 3)</a:t>
            </a:r>
          </a:p>
          <a:p>
            <a:pPr>
              <a:defRPr sz="2250">
                <a:solidFill>
                  <a:srgbClr val="111111"/>
                </a:solidFill>
              </a:defRPr>
            </a:pPr>
            <a:r>
              <a:rPr lang="en-US" sz="2250">
                <a:solidFill>
                  <a:srgbClr val="111111"/>
                </a:solidFill>
              </a:rPr>
              <a:t>Pmax=0.1 W; CSI uncertainty: epsilon_h=0.05</a:t>
            </a:r>
          </a:p>
          <a:p>
            <a:pPr>
              <a:defRPr sz="2250">
                <a:solidFill>
                  <a:srgbClr val="111111"/>
                </a:solidFill>
              </a:defRPr>
            </a:pPr>
            <a:r>
              <a:rPr lang="en-US" sz="2250">
                <a:solidFill>
                  <a:srgbClr val="111111"/>
                </a:solidFill>
              </a:rPr>
              <a:t>Evidence: audited MATLAB experiment package</a:t>
            </a:r>
            <a:endParaRPr sz="2250">
              <a:solidFill>
                <a:srgbClr val="111111"/>
              </a:solidFill>
            </a:endParaRPr>
          </a:p>
        </p:txBody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73A9BEC3-5D10-C3D8-BB4B-2F1F7B269D79}"/>
              </a:ext>
            </a:extLst>
          </p:cNvPr>
          <p:cNvSpPr/>
          <p:nvPr/>
        </p:nvSpPr>
        <p:spPr>
          <a:xfrm>
            <a:off x="762000" y="9652000"/>
            <a:ext cx="14033500" cy="4445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8EAFC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7B5C0DDD-4469-4032-C76A-357D8223239D}"/>
              </a:ext>
            </a:extLst>
          </p:cNvPr>
          <p:cNvSpPr/>
          <p:nvPr/>
        </p:nvSpPr>
        <p:spPr>
          <a:xfrm>
            <a:off x="762000" y="9652000"/>
            <a:ext cx="14033500" cy="406400"/>
          </a:xfrm>
          <a:prstGeom prst="roundRect">
            <a:avLst/>
          </a:prstGeom>
          <a:solidFill>
            <a:srgbClr val="B8CFE7"/>
          </a:solidFill>
          <a:ln w="2540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9C7A629-358B-05FD-38CF-F741303F8097}"/>
              </a:ext>
            </a:extLst>
          </p:cNvPr>
          <p:cNvSpPr txBox="1"/>
          <p:nvPr/>
        </p:nvSpPr>
        <p:spPr>
          <a:xfrm>
            <a:off x="965200" y="9702800"/>
            <a:ext cx="13627100" cy="292388"/>
          </a:xfrm>
          <a:prstGeom prst="rect">
            <a:avLst/>
          </a:prstGeom>
          <a:noFill/>
        </p:spPr>
        <p:txBody>
          <a:bodyPr vert="horz" rtlCol="0" anchor="ctr">
            <a:spAutoFit/>
          </a:bodyPr>
          <a:lstStyle/>
          <a:p>
            <a:r>
              <a:rPr lang="en-US" altLang="zh-CN" sz="1300" b="1">
                <a:solidFill>
                  <a:srgbClr val="10243E"/>
                </a:solidFill>
                <a:latin typeface="Arial" panose="020B0604020202020204" pitchFamily="34" charset="0"/>
              </a:rPr>
              <a:t>ABSTRACT &amp; RATIONALE</a:t>
            </a:r>
            <a:endParaRPr lang="zh-CN" altLang="en-US" sz="1300" b="1">
              <a:solidFill>
                <a:srgbClr val="10243E"/>
              </a:solidFill>
              <a:latin typeface="Arial" panose="020B0604020202020204" pitchFamily="34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76FC4D9-82A1-A454-A856-0F704211AD62}"/>
              </a:ext>
            </a:extLst>
          </p:cNvPr>
          <p:cNvSpPr txBox="1"/>
          <p:nvPr/>
        </p:nvSpPr>
        <p:spPr>
          <a:xfrm>
            <a:off x="1206500" y="10287000"/>
            <a:ext cx="13144500" cy="1200329"/>
          </a:xfrm>
          <a:prstGeom prst="rect">
            <a:avLst/>
          </a:prstGeom>
          <a:noFill/>
        </p:spPr>
        <p:txBody>
          <a:bodyPr vert="horz" rtlCol="0" anchor="ctr">
            <a:spAutoFit/>
          </a:bodyPr>
          <a:lstStyle/>
          <a:p>
            <a:r>
              <a:rPr lang="en-US" altLang="zh-CN">
                <a:solidFill>
                  <a:srgbClr val="10243E"/>
                </a:solidFill>
                <a:latin typeface="Arial" panose="020B0604020202020204" pitchFamily="34" charset="0"/>
              </a:rPr>
              <a:t>Cell-free ISAC retains globally cooperative communication while using a sparse, physically meaningful sensing cluster. We minimize transmit power subject to robust communication SINR, sensing SINR, and PCRB tracking constraints.</a:t>
            </a:r>
          </a:p>
          <a:p>
            <a:endParaRPr lang="en-US" altLang="zh-CN">
              <a:solidFill>
                <a:srgbClr val="10243E"/>
              </a:solidFill>
              <a:latin typeface="Arial" panose="020B0604020202020204" pitchFamily="34" charset="0"/>
            </a:endParaRPr>
          </a:p>
          <a:p>
            <a:r>
              <a:rPr lang="en-US" altLang="zh-CN">
                <a:solidFill>
                  <a:srgbClr val="10243E"/>
                </a:solidFill>
                <a:latin typeface="Arial" panose="020B0604020202020204" pitchFamily="34" charset="0"/>
              </a:rPr>
              <a:t>The binary variable b_mp authorizes only the target-p dedicated sensing waveform S_p.</a:t>
            </a:r>
            <a:endParaRPr lang="zh-CN" altLang="en-US">
              <a:solidFill>
                <a:srgbClr val="10243E"/>
              </a:solidFill>
              <a:latin typeface="Arial" panose="020B0604020202020204" pitchFamily="34" charset="0"/>
            </a:endParaRP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A1E83E8B-860D-9AFC-9B21-74C9BD743B48}"/>
              </a:ext>
            </a:extLst>
          </p:cNvPr>
          <p:cNvSpPr/>
          <p:nvPr/>
        </p:nvSpPr>
        <p:spPr>
          <a:xfrm>
            <a:off x="15430500" y="9652000"/>
            <a:ext cx="14033500" cy="4445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8EAFC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F7463E56-DFE4-6717-AB44-1A959AF192D3}"/>
              </a:ext>
            </a:extLst>
          </p:cNvPr>
          <p:cNvSpPr/>
          <p:nvPr/>
        </p:nvSpPr>
        <p:spPr>
          <a:xfrm>
            <a:off x="15430500" y="9652000"/>
            <a:ext cx="14033500" cy="406400"/>
          </a:xfrm>
          <a:prstGeom prst="roundRect">
            <a:avLst/>
          </a:prstGeom>
          <a:solidFill>
            <a:srgbClr val="B8CFE7"/>
          </a:solidFill>
          <a:ln w="2540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0A7E4D7B-16E4-5827-47AF-B52C129C6074}"/>
              </a:ext>
            </a:extLst>
          </p:cNvPr>
          <p:cNvSpPr txBox="1"/>
          <p:nvPr/>
        </p:nvSpPr>
        <p:spPr>
          <a:xfrm>
            <a:off x="15633700" y="9702800"/>
            <a:ext cx="13627100" cy="292388"/>
          </a:xfrm>
          <a:prstGeom prst="rect">
            <a:avLst/>
          </a:prstGeom>
          <a:noFill/>
        </p:spPr>
        <p:txBody>
          <a:bodyPr vert="horz" rtlCol="0" anchor="ctr">
            <a:spAutoFit/>
          </a:bodyPr>
          <a:lstStyle/>
          <a:p>
            <a:r>
              <a:rPr lang="en-US" altLang="zh-CN" sz="1300" b="1">
                <a:solidFill>
                  <a:srgbClr val="10243E"/>
                </a:solidFill>
                <a:latin typeface="Arial" panose="020B0604020202020204" pitchFamily="34" charset="0"/>
              </a:rPr>
              <a:t>MODEL AND CLAIM</a:t>
            </a:r>
            <a:endParaRPr lang="zh-CN" altLang="en-US" sz="1300" b="1">
              <a:solidFill>
                <a:srgbClr val="10243E"/>
              </a:solidFill>
              <a:latin typeface="Arial" panose="020B0604020202020204" pitchFamily="34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DAE92BAE-0158-4047-5FC4-B13D829EB059}"/>
              </a:ext>
            </a:extLst>
          </p:cNvPr>
          <p:cNvSpPr txBox="1"/>
          <p:nvPr/>
        </p:nvSpPr>
        <p:spPr>
          <a:xfrm>
            <a:off x="15875000" y="10287000"/>
            <a:ext cx="13144500" cy="1200329"/>
          </a:xfrm>
          <a:prstGeom prst="rect">
            <a:avLst/>
          </a:prstGeom>
          <a:noFill/>
        </p:spPr>
        <p:txBody>
          <a:bodyPr vert="horz" rtlCol="0" anchor="ctr">
            <a:spAutoFit/>
          </a:bodyPr>
          <a:lstStyle/>
          <a:p>
            <a:r>
              <a:rPr lang="en-US" altLang="zh-CN">
                <a:solidFill>
                  <a:srgbClr val="10243E"/>
                </a:solidFill>
                <a:latin typeface="Arial" panose="020B0604020202020204" pitchFamily="34" charset="0"/>
              </a:rPr>
              <a:t>M=6 APs, N_t=2 antennas/AP, K=3 UEs and P=2 targets. Each target has exactly N_req sensing AP authorizations; AP power is hard limited by P_max.</a:t>
            </a:r>
          </a:p>
          <a:p>
            <a:endParaRPr lang="en-US" altLang="zh-CN">
              <a:solidFill>
                <a:srgbClr val="10243E"/>
              </a:solidFill>
              <a:latin typeface="Arial" panose="020B0604020202020204" pitchFamily="34" charset="0"/>
            </a:endParaRPr>
          </a:p>
          <a:p>
            <a:r>
              <a:rPr lang="en-US" altLang="zh-CN">
                <a:solidFill>
                  <a:srgbClr val="10243E"/>
                </a:solidFill>
                <a:latin typeface="Arial" panose="020B0604020202020204" pitchFamily="34" charset="0"/>
              </a:rPr>
              <a:t>FIM geometry determines the sensing cluster; robust beamforming manages communication QoS.</a:t>
            </a:r>
            <a:endParaRPr lang="zh-CN" altLang="en-US">
              <a:solidFill>
                <a:srgbClr val="10243E"/>
              </a:solidFill>
              <a:latin typeface="Arial" panose="020B0604020202020204" pitchFamily="34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0173FC54-EA7B-968C-766A-0699DA031005}"/>
              </a:ext>
            </a:extLst>
          </p:cNvPr>
          <p:cNvSpPr txBox="1"/>
          <p:nvPr/>
        </p:nvSpPr>
        <p:spPr>
          <a:xfrm>
            <a:off x="1270000" y="14414500"/>
            <a:ext cx="27749500" cy="323165"/>
          </a:xfrm>
          <a:prstGeom prst="rect">
            <a:avLst/>
          </a:prstGeom>
          <a:noFill/>
        </p:spPr>
        <p:txBody>
          <a:bodyPr vert="horz" rtlCol="0" anchor="ctr">
            <a:spAutoFit/>
          </a:bodyPr>
          <a:lstStyle/>
          <a:p>
            <a:pPr algn="ctr"/>
            <a:r>
              <a:rPr lang="en-US" altLang="zh-CN" sz="1500" b="1">
                <a:solidFill>
                  <a:srgbClr val="10243E"/>
                </a:solidFill>
                <a:latin typeface="Arial" panose="020B0604020202020204" pitchFamily="34" charset="0"/>
              </a:rPr>
              <a:t>CORE ALGORITHM: DUAL-DC RECOVERY WITH PHYSICAL CERTIFICATION</a:t>
            </a:r>
            <a:endParaRPr lang="zh-CN" altLang="en-US" sz="1500" b="1">
              <a:solidFill>
                <a:srgbClr val="10243E"/>
              </a:solidFill>
              <a:latin typeface="Arial" panose="020B0604020202020204" pitchFamily="34" charset="0"/>
            </a:endParaRP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1DF1231A-CFE9-6563-BD4C-E60A8E7ECF68}"/>
              </a:ext>
            </a:extLst>
          </p:cNvPr>
          <p:cNvSpPr/>
          <p:nvPr/>
        </p:nvSpPr>
        <p:spPr>
          <a:xfrm>
            <a:off x="762000" y="14986000"/>
            <a:ext cx="10160000" cy="14097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8EAFC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1B8C6DD8-F2D0-BFCE-25E6-4A0B2399A4EE}"/>
              </a:ext>
            </a:extLst>
          </p:cNvPr>
          <p:cNvSpPr/>
          <p:nvPr/>
        </p:nvSpPr>
        <p:spPr>
          <a:xfrm>
            <a:off x="762000" y="14986000"/>
            <a:ext cx="10160000" cy="406400"/>
          </a:xfrm>
          <a:prstGeom prst="roundRect">
            <a:avLst/>
          </a:prstGeom>
          <a:solidFill>
            <a:srgbClr val="B8CFE7"/>
          </a:solidFill>
          <a:ln w="2540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6D56D0BA-14A8-03C6-4F6D-55F042BF798B}"/>
              </a:ext>
            </a:extLst>
          </p:cNvPr>
          <p:cNvSpPr txBox="1"/>
          <p:nvPr/>
        </p:nvSpPr>
        <p:spPr>
          <a:xfrm>
            <a:off x="965200" y="15036800"/>
            <a:ext cx="9753600" cy="292388"/>
          </a:xfrm>
          <a:prstGeom prst="rect">
            <a:avLst/>
          </a:prstGeom>
          <a:noFill/>
        </p:spPr>
        <p:txBody>
          <a:bodyPr vert="horz" rtlCol="0" anchor="ctr">
            <a:spAutoFit/>
          </a:bodyPr>
          <a:lstStyle/>
          <a:p>
            <a:r>
              <a:rPr lang="en-US" altLang="zh-CN" sz="1300" b="1">
                <a:solidFill>
                  <a:srgbClr val="10243E"/>
                </a:solidFill>
                <a:latin typeface="Arial" panose="020B0604020202020204" pitchFamily="34" charset="0"/>
              </a:rPr>
              <a:t>THREE-STAGE OPTIMIZATION</a:t>
            </a:r>
            <a:endParaRPr lang="zh-CN" altLang="en-US" sz="1300" b="1">
              <a:solidFill>
                <a:srgbClr val="10243E"/>
              </a:solidFill>
              <a:latin typeface="Arial" panose="020B0604020202020204" pitchFamily="34" charset="0"/>
            </a:endParaRP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CC320F4B-CAFF-882F-37F6-D80358AA35BA}"/>
              </a:ext>
            </a:extLst>
          </p:cNvPr>
          <p:cNvSpPr/>
          <p:nvPr/>
        </p:nvSpPr>
        <p:spPr>
          <a:xfrm>
            <a:off x="1206500" y="15684500"/>
            <a:ext cx="9271000" cy="2667000"/>
          </a:xfrm>
          <a:prstGeom prst="roundRect">
            <a:avLst/>
          </a:prstGeom>
          <a:solidFill>
            <a:srgbClr val="F6FAFE"/>
          </a:solidFill>
          <a:ln w="2540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04CEC2CA-6245-032C-921C-219C34322CB7}"/>
              </a:ext>
            </a:extLst>
          </p:cNvPr>
          <p:cNvSpPr txBox="1"/>
          <p:nvPr/>
        </p:nvSpPr>
        <p:spPr>
          <a:xfrm>
            <a:off x="1587500" y="16040100"/>
            <a:ext cx="7874000" cy="369332"/>
          </a:xfrm>
          <a:prstGeom prst="rect">
            <a:avLst/>
          </a:prstGeom>
          <a:noFill/>
        </p:spPr>
        <p:txBody>
          <a:bodyPr vert="horz" rtlCol="0" anchor="ctr">
            <a:spAutoFit/>
          </a:bodyPr>
          <a:lstStyle/>
          <a:p>
            <a:r>
              <a:rPr lang="en-US" altLang="zh-CN" b="1">
                <a:solidFill>
                  <a:srgbClr val="075A98"/>
                </a:solidFill>
                <a:latin typeface="Arial" panose="020B0604020202020204" pitchFamily="34" charset="0"/>
              </a:rPr>
              <a:t>1  Relax</a:t>
            </a:r>
            <a:endParaRPr lang="zh-CN" altLang="en-US" b="1">
              <a:solidFill>
                <a:srgbClr val="075A98"/>
              </a:solidFill>
              <a:latin typeface="Arial" panose="020B0604020202020204" pitchFamily="34" charset="0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2F7F66FD-D05C-A3A0-13AE-E0EFBEAA54B1}"/>
              </a:ext>
            </a:extLst>
          </p:cNvPr>
          <p:cNvSpPr txBox="1"/>
          <p:nvPr/>
        </p:nvSpPr>
        <p:spPr>
          <a:xfrm>
            <a:off x="1587500" y="16573500"/>
            <a:ext cx="8318500" cy="615553"/>
          </a:xfrm>
          <a:prstGeom prst="rect">
            <a:avLst/>
          </a:prstGeom>
          <a:noFill/>
        </p:spPr>
        <p:txBody>
          <a:bodyPr vert="horz" rtlCol="0" anchor="ctr">
            <a:spAutoFit/>
          </a:bodyPr>
          <a:lstStyle/>
          <a:p>
            <a:r>
              <a:rPr lang="en-US" altLang="zh-CN" sz="1700">
                <a:solidFill>
                  <a:srgbClr val="10243E"/>
                </a:solidFill>
                <a:latin typeface="Arial" panose="020B0604020202020204" pitchFamily="34" charset="0"/>
              </a:rPr>
              <a:t>Lift covariances, apply the S-procedure, and express PCRB using Schur-complement LMIs.</a:t>
            </a:r>
            <a:endParaRPr lang="zh-CN" altLang="en-US" sz="1700">
              <a:solidFill>
                <a:srgbClr val="10243E"/>
              </a:solidFill>
              <a:latin typeface="Arial" panose="020B0604020202020204" pitchFamily="34" charset="0"/>
            </a:endParaRP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896CF79A-7F69-006D-DAEE-BC004200207B}"/>
              </a:ext>
            </a:extLst>
          </p:cNvPr>
          <p:cNvSpPr/>
          <p:nvPr/>
        </p:nvSpPr>
        <p:spPr>
          <a:xfrm>
            <a:off x="1206500" y="18796000"/>
            <a:ext cx="9271000" cy="2667000"/>
          </a:xfrm>
          <a:prstGeom prst="roundRect">
            <a:avLst/>
          </a:prstGeom>
          <a:solidFill>
            <a:srgbClr val="F6FAFE"/>
          </a:solidFill>
          <a:ln w="2540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7DF7C2FC-ED02-4871-A926-A7767A45092B}"/>
              </a:ext>
            </a:extLst>
          </p:cNvPr>
          <p:cNvSpPr txBox="1"/>
          <p:nvPr/>
        </p:nvSpPr>
        <p:spPr>
          <a:xfrm>
            <a:off x="1587500" y="19151600"/>
            <a:ext cx="7874000" cy="369332"/>
          </a:xfrm>
          <a:prstGeom prst="rect">
            <a:avLst/>
          </a:prstGeom>
          <a:noFill/>
        </p:spPr>
        <p:txBody>
          <a:bodyPr vert="horz" rtlCol="0" anchor="ctr">
            <a:spAutoFit/>
          </a:bodyPr>
          <a:lstStyle/>
          <a:p>
            <a:r>
              <a:rPr lang="en-US" altLang="zh-CN" b="1">
                <a:solidFill>
                  <a:srgbClr val="075A98"/>
                </a:solidFill>
                <a:latin typeface="Arial" panose="020B0604020202020204" pitchFamily="34" charset="0"/>
              </a:rPr>
              <a:t>2  Recover</a:t>
            </a:r>
            <a:endParaRPr lang="zh-CN" altLang="en-US" b="1">
              <a:solidFill>
                <a:srgbClr val="075A98"/>
              </a:solidFill>
              <a:latin typeface="Arial" panose="020B0604020202020204" pitchFamily="34" charset="0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BBF13E06-1994-01AC-D95F-713985DDE58A}"/>
              </a:ext>
            </a:extLst>
          </p:cNvPr>
          <p:cNvSpPr txBox="1"/>
          <p:nvPr/>
        </p:nvSpPr>
        <p:spPr>
          <a:xfrm>
            <a:off x="1587500" y="19685000"/>
            <a:ext cx="8318500" cy="353943"/>
          </a:xfrm>
          <a:prstGeom prst="rect">
            <a:avLst/>
          </a:prstGeom>
          <a:noFill/>
        </p:spPr>
        <p:txBody>
          <a:bodyPr vert="horz" rtlCol="0" anchor="ctr">
            <a:spAutoFit/>
          </a:bodyPr>
          <a:lstStyle/>
          <a:p>
            <a:r>
              <a:rPr lang="en-US" altLang="zh-CN" sz="1700">
                <a:solidFill>
                  <a:srgbClr val="10243E"/>
                </a:solidFill>
                <a:latin typeface="Arial" panose="020B0604020202020204" pitchFamily="34" charset="0"/>
              </a:rPr>
              <a:t>Use coupled rank and binary DC penalties to form a stable AP-target topology.</a:t>
            </a:r>
            <a:endParaRPr lang="zh-CN" altLang="en-US" sz="1700">
              <a:solidFill>
                <a:srgbClr val="10243E"/>
              </a:solidFill>
              <a:latin typeface="Arial" panose="020B0604020202020204" pitchFamily="34" charset="0"/>
            </a:endParaRPr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0C728A3E-E8E3-9CFC-B516-431ECF508AA4}"/>
              </a:ext>
            </a:extLst>
          </p:cNvPr>
          <p:cNvSpPr/>
          <p:nvPr/>
        </p:nvSpPr>
        <p:spPr>
          <a:xfrm>
            <a:off x="1206500" y="21907500"/>
            <a:ext cx="9271000" cy="2667000"/>
          </a:xfrm>
          <a:prstGeom prst="roundRect">
            <a:avLst/>
          </a:prstGeom>
          <a:solidFill>
            <a:srgbClr val="F6FAFE"/>
          </a:solidFill>
          <a:ln w="2540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52BDB84A-09B2-E965-8E02-9F291335D73B}"/>
              </a:ext>
            </a:extLst>
          </p:cNvPr>
          <p:cNvSpPr txBox="1"/>
          <p:nvPr/>
        </p:nvSpPr>
        <p:spPr>
          <a:xfrm>
            <a:off x="1587500" y="22263100"/>
            <a:ext cx="7874000" cy="369332"/>
          </a:xfrm>
          <a:prstGeom prst="rect">
            <a:avLst/>
          </a:prstGeom>
          <a:noFill/>
        </p:spPr>
        <p:txBody>
          <a:bodyPr vert="horz" rtlCol="0" anchor="ctr">
            <a:spAutoFit/>
          </a:bodyPr>
          <a:lstStyle/>
          <a:p>
            <a:r>
              <a:rPr lang="en-US" altLang="zh-CN" b="1">
                <a:solidFill>
                  <a:srgbClr val="075A98"/>
                </a:solidFill>
                <a:latin typeface="Arial" panose="020B0604020202020204" pitchFamily="34" charset="0"/>
              </a:rPr>
              <a:t>3  Certify</a:t>
            </a:r>
            <a:endParaRPr lang="zh-CN" altLang="en-US" b="1">
              <a:solidFill>
                <a:srgbClr val="075A98"/>
              </a:solidFill>
              <a:latin typeface="Arial" panose="020B0604020202020204" pitchFamily="34" charset="0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EEC25750-BC42-DF3E-74BB-C80D101354AF}"/>
              </a:ext>
            </a:extLst>
          </p:cNvPr>
          <p:cNvSpPr txBox="1"/>
          <p:nvPr/>
        </p:nvSpPr>
        <p:spPr>
          <a:xfrm>
            <a:off x="1587500" y="22796500"/>
            <a:ext cx="8318500" cy="615553"/>
          </a:xfrm>
          <a:prstGeom prst="rect">
            <a:avLst/>
          </a:prstGeom>
          <a:noFill/>
        </p:spPr>
        <p:txBody>
          <a:bodyPr vert="horz" rtlCol="0" anchor="ctr">
            <a:spAutoFit/>
          </a:bodyPr>
          <a:lstStyle/>
          <a:p>
            <a:r>
              <a:rPr lang="en-US" altLang="zh-CN" sz="1700">
                <a:solidFill>
                  <a:srgbClr val="10243E"/>
                </a:solidFill>
                <a:latin typeface="Arial" panose="020B0604020202020204" pitchFamily="34" charset="0"/>
              </a:rPr>
              <a:t>Fix b, re-optimize the continuous covariances, and validate AP power, sensing gate, SINR, PCRB, and rank constraints.</a:t>
            </a:r>
            <a:endParaRPr lang="zh-CN" altLang="en-US" sz="1700">
              <a:solidFill>
                <a:srgbClr val="10243E"/>
              </a:solidFill>
              <a:latin typeface="Arial" panose="020B0604020202020204" pitchFamily="34" charset="0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76A7F7D1-58E7-C37F-B0EF-E104E4291957}"/>
              </a:ext>
            </a:extLst>
          </p:cNvPr>
          <p:cNvSpPr txBox="1"/>
          <p:nvPr/>
        </p:nvSpPr>
        <p:spPr>
          <a:xfrm>
            <a:off x="1524000" y="25971500"/>
            <a:ext cx="8509000" cy="292388"/>
          </a:xfrm>
          <a:prstGeom prst="rect">
            <a:avLst/>
          </a:prstGeom>
          <a:noFill/>
        </p:spPr>
        <p:txBody>
          <a:bodyPr vert="horz" rtlCol="0" anchor="ctr">
            <a:spAutoFit/>
          </a:bodyPr>
          <a:lstStyle/>
          <a:p>
            <a:pPr algn="ctr"/>
            <a:r>
              <a:rPr lang="en-US" altLang="zh-CN" sz="1300" b="1">
                <a:solidFill>
                  <a:srgbClr val="08734A"/>
                </a:solidFill>
                <a:latin typeface="Arial" panose="020B0604020202020204" pitchFamily="34" charset="0"/>
              </a:rPr>
              <a:t>Only certified fixed-topology solutions enter the experiment statistics.</a:t>
            </a:r>
            <a:endParaRPr lang="zh-CN" altLang="en-US" sz="1300" b="1">
              <a:solidFill>
                <a:srgbClr val="08734A"/>
              </a:solidFill>
              <a:latin typeface="Arial" panose="020B0604020202020204" pitchFamily="34" charset="0"/>
            </a:endParaRPr>
          </a:p>
        </p:txBody>
      </p: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A9F8B907-D281-E165-81C0-B4250EAB0DC6}"/>
              </a:ext>
            </a:extLst>
          </p:cNvPr>
          <p:cNvSpPr/>
          <p:nvPr/>
        </p:nvSpPr>
        <p:spPr>
          <a:xfrm>
            <a:off x="11430000" y="14986000"/>
            <a:ext cx="18034000" cy="14097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8EAFC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311F7FE0-2196-D57E-D5E6-04DFF6E050E3}"/>
              </a:ext>
            </a:extLst>
          </p:cNvPr>
          <p:cNvSpPr/>
          <p:nvPr/>
        </p:nvSpPr>
        <p:spPr>
          <a:xfrm>
            <a:off x="11430000" y="14986000"/>
            <a:ext cx="18034000" cy="406400"/>
          </a:xfrm>
          <a:prstGeom prst="roundRect">
            <a:avLst/>
          </a:prstGeom>
          <a:solidFill>
            <a:srgbClr val="B8CFE7"/>
          </a:solidFill>
          <a:ln w="2540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0FB1601B-C04A-CE59-AD34-CA797F5FF18B}"/>
              </a:ext>
            </a:extLst>
          </p:cNvPr>
          <p:cNvSpPr txBox="1"/>
          <p:nvPr/>
        </p:nvSpPr>
        <p:spPr>
          <a:xfrm>
            <a:off x="11633200" y="15036800"/>
            <a:ext cx="17627600" cy="292388"/>
          </a:xfrm>
          <a:prstGeom prst="rect">
            <a:avLst/>
          </a:prstGeom>
          <a:noFill/>
        </p:spPr>
        <p:txBody>
          <a:bodyPr vert="horz" rtlCol="0" anchor="ctr">
            <a:spAutoFit/>
          </a:bodyPr>
          <a:lstStyle/>
          <a:p>
            <a:r>
              <a:rPr lang="en-US" altLang="zh-CN" sz="1300" b="1">
                <a:solidFill>
                  <a:srgbClr val="10243E"/>
                </a:solidFill>
                <a:latin typeface="Arial" panose="020B0604020202020204" pitchFamily="34" charset="0"/>
              </a:rPr>
              <a:t>DUAL-DC ABLATION</a:t>
            </a:r>
            <a:endParaRPr lang="zh-CN" altLang="en-US" sz="1300" b="1">
              <a:solidFill>
                <a:srgbClr val="10243E"/>
              </a:solidFill>
              <a:latin typeface="Arial" panose="020B0604020202020204" pitchFamily="34" charset="0"/>
            </a:endParaRPr>
          </a:p>
        </p:txBody>
      </p:sp>
      <p:pic>
        <p:nvPicPr>
          <p:cNvPr id="33" name="图片 32">
            <a:extLst>
              <a:ext uri="{FF2B5EF4-FFF2-40B4-BE49-F238E27FC236}">
                <a16:creationId xmlns:a16="http://schemas.microsoft.com/office/drawing/2014/main" id="{F2272173-00D4-9A18-14D6-83628DE6EC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47500" y="18815628"/>
            <a:ext cx="17399000" cy="4278743"/>
          </a:xfrm>
          <a:prstGeom prst="rect">
            <a:avLst/>
          </a:prstGeom>
        </p:spPr>
      </p:pic>
      <p:sp>
        <p:nvSpPr>
          <p:cNvPr id="34" name="文本框 33">
            <a:extLst>
              <a:ext uri="{FF2B5EF4-FFF2-40B4-BE49-F238E27FC236}">
                <a16:creationId xmlns:a16="http://schemas.microsoft.com/office/drawing/2014/main" id="{AF5EB2CD-B696-8E81-BB2D-A239B9742A10}"/>
              </a:ext>
            </a:extLst>
          </p:cNvPr>
          <p:cNvSpPr txBox="1"/>
          <p:nvPr/>
        </p:nvSpPr>
        <p:spPr>
          <a:xfrm>
            <a:off x="11811000" y="26543000"/>
            <a:ext cx="17272000" cy="292388"/>
          </a:xfrm>
          <a:prstGeom prst="rect">
            <a:avLst/>
          </a:prstGeom>
          <a:noFill/>
        </p:spPr>
        <p:txBody>
          <a:bodyPr vert="horz" rtlCol="0" anchor="ctr">
            <a:spAutoFit/>
          </a:bodyPr>
          <a:lstStyle/>
          <a:p>
            <a:pPr algn="ctr"/>
            <a:r>
              <a:rPr lang="en-US" altLang="zh-CN" sz="1300" b="1">
                <a:solidFill>
                  <a:srgbClr val="08734A"/>
                </a:solidFill>
                <a:latin typeface="Arial" panose="020B0604020202020204" pitchFamily="34" charset="0"/>
              </a:rPr>
              <a:t>Coupled DC reaches a median binary distance of 5.94</a:t>
            </a:r>
            <a:r>
              <a:rPr lang="zh-CN" altLang="en-US" sz="1300" b="1">
                <a:solidFill>
                  <a:srgbClr val="08734A"/>
                </a:solidFill>
                <a:latin typeface="Arial" panose="020B0604020202020204" pitchFamily="34" charset="0"/>
              </a:rPr>
              <a:t>脳</a:t>
            </a:r>
            <a:r>
              <a:rPr lang="en-US" altLang="zh-CN" sz="1300" b="1">
                <a:solidFill>
                  <a:srgbClr val="08734A"/>
                </a:solidFill>
                <a:latin typeface="Arial" panose="020B0604020202020204" pitchFamily="34" charset="0"/>
              </a:rPr>
              <a:t>10</a:t>
            </a:r>
            <a:r>
              <a:rPr lang="zh-CN" altLang="en-US" sz="1300" b="1">
                <a:solidFill>
                  <a:srgbClr val="08734A"/>
                </a:solidFill>
                <a:latin typeface="Arial" panose="020B0604020202020204" pitchFamily="34" charset="0"/>
              </a:rPr>
              <a:t>鈦烩伒</a:t>
            </a:r>
            <a:r>
              <a:rPr lang="en-US" altLang="zh-CN" sz="1300" b="1">
                <a:solidFill>
                  <a:srgbClr val="08734A"/>
                </a:solidFill>
                <a:latin typeface="Arial" panose="020B0604020202020204" pitchFamily="34" charset="0"/>
              </a:rPr>
              <a:t>; rank-only relaxation leaves the association fractional.</a:t>
            </a:r>
            <a:endParaRPr lang="zh-CN" altLang="en-US" sz="1300" b="1">
              <a:solidFill>
                <a:srgbClr val="08734A"/>
              </a:solidFill>
              <a:latin typeface="Arial" panose="020B0604020202020204" pitchFamily="34" charset="0"/>
            </a:endParaRPr>
          </a:p>
        </p:txBody>
      </p:sp>
      <p:sp>
        <p:nvSpPr>
          <p:cNvPr id="35" name="矩形: 圆角 34">
            <a:extLst>
              <a:ext uri="{FF2B5EF4-FFF2-40B4-BE49-F238E27FC236}">
                <a16:creationId xmlns:a16="http://schemas.microsoft.com/office/drawing/2014/main" id="{BFA12C2E-3851-23B9-3A84-D07006A7BF7F}"/>
              </a:ext>
            </a:extLst>
          </p:cNvPr>
          <p:cNvSpPr/>
          <p:nvPr/>
        </p:nvSpPr>
        <p:spPr>
          <a:xfrm>
            <a:off x="762000" y="29718000"/>
            <a:ext cx="14033500" cy="7366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8EAFC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矩形: 圆角 35">
            <a:extLst>
              <a:ext uri="{FF2B5EF4-FFF2-40B4-BE49-F238E27FC236}">
                <a16:creationId xmlns:a16="http://schemas.microsoft.com/office/drawing/2014/main" id="{E78F451F-AE25-AA40-2891-D56D5F9EBB36}"/>
              </a:ext>
            </a:extLst>
          </p:cNvPr>
          <p:cNvSpPr/>
          <p:nvPr/>
        </p:nvSpPr>
        <p:spPr>
          <a:xfrm>
            <a:off x="762000" y="29718000"/>
            <a:ext cx="14033500" cy="406400"/>
          </a:xfrm>
          <a:prstGeom prst="roundRect">
            <a:avLst/>
          </a:prstGeom>
          <a:solidFill>
            <a:srgbClr val="B8CFE7"/>
          </a:solidFill>
          <a:ln w="2540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B3B8A511-6517-F7D9-A068-01693DB41431}"/>
              </a:ext>
            </a:extLst>
          </p:cNvPr>
          <p:cNvSpPr txBox="1"/>
          <p:nvPr/>
        </p:nvSpPr>
        <p:spPr>
          <a:xfrm>
            <a:off x="965200" y="29768800"/>
            <a:ext cx="13627100" cy="292388"/>
          </a:xfrm>
          <a:prstGeom prst="rect">
            <a:avLst/>
          </a:prstGeom>
          <a:noFill/>
        </p:spPr>
        <p:txBody>
          <a:bodyPr vert="horz" rtlCol="0" anchor="ctr">
            <a:spAutoFit/>
          </a:bodyPr>
          <a:lstStyle/>
          <a:p>
            <a:r>
              <a:rPr lang="en-US" altLang="zh-CN" sz="1300" b="1">
                <a:solidFill>
                  <a:srgbClr val="10243E"/>
                </a:solidFill>
                <a:latin typeface="Arial" panose="020B0604020202020204" pitchFamily="34" charset="0"/>
              </a:rPr>
              <a:t>ROBUST CSI PROTECTION</a:t>
            </a:r>
            <a:endParaRPr lang="zh-CN" altLang="en-US" sz="1300" b="1">
              <a:solidFill>
                <a:srgbClr val="10243E"/>
              </a:solidFill>
              <a:latin typeface="Arial" panose="020B0604020202020204" pitchFamily="34" charset="0"/>
            </a:endParaRPr>
          </a:p>
        </p:txBody>
      </p:sp>
      <p:pic>
        <p:nvPicPr>
          <p:cNvPr id="41" name="图片 40">
            <a:extLst>
              <a:ext uri="{FF2B5EF4-FFF2-40B4-BE49-F238E27FC236}">
                <a16:creationId xmlns:a16="http://schemas.microsoft.com/office/drawing/2014/main" id="{C8E71A83-221A-5B57-4C10-30217379774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9500" y="30971892"/>
            <a:ext cx="13398500" cy="3969214"/>
          </a:xfrm>
          <a:prstGeom prst="rect">
            <a:avLst/>
          </a:prstGeom>
        </p:spPr>
      </p:pic>
      <p:sp>
        <p:nvSpPr>
          <p:cNvPr id="44" name="文本框 43">
            <a:extLst>
              <a:ext uri="{FF2B5EF4-FFF2-40B4-BE49-F238E27FC236}">
                <a16:creationId xmlns:a16="http://schemas.microsoft.com/office/drawing/2014/main" id="{5EDABC0C-EABD-38F4-A967-36CAB71EF3F5}"/>
              </a:ext>
            </a:extLst>
          </p:cNvPr>
          <p:cNvSpPr txBox="1"/>
          <p:nvPr/>
        </p:nvSpPr>
        <p:spPr>
          <a:xfrm>
            <a:off x="1206500" y="35687000"/>
            <a:ext cx="13081000" cy="292388"/>
          </a:xfrm>
          <a:prstGeom prst="rect">
            <a:avLst/>
          </a:prstGeom>
          <a:noFill/>
        </p:spPr>
        <p:txBody>
          <a:bodyPr vert="horz" rtlCol="0" anchor="ctr">
            <a:spAutoFit/>
          </a:bodyPr>
          <a:lstStyle/>
          <a:p>
            <a:pPr algn="ctr"/>
            <a:r>
              <a:rPr lang="en-US" altLang="zh-CN" sz="1300" b="1">
                <a:solidFill>
                  <a:srgbClr val="08734A"/>
                </a:solidFill>
                <a:latin typeface="Arial" panose="020B0604020202020204" pitchFamily="34" charset="0"/>
              </a:rPr>
              <a:t>Robust S-procedure: 0 sampled outage. Nominal CSI: 89</a:t>
            </a:r>
            <a:r>
              <a:rPr lang="zh-CN" altLang="en-US" sz="1300" b="1">
                <a:solidFill>
                  <a:srgbClr val="08734A"/>
                </a:solidFill>
                <a:latin typeface="Arial" panose="020B0604020202020204" pitchFamily="34" charset="0"/>
              </a:rPr>
              <a:t>鈥</a:t>
            </a:r>
            <a:r>
              <a:rPr lang="en-US" altLang="zh-CN" sz="1300" b="1">
                <a:solidFill>
                  <a:srgbClr val="08734A"/>
                </a:solidFill>
                <a:latin typeface="Arial" panose="020B0604020202020204" pitchFamily="34" charset="0"/>
              </a:rPr>
              <a:t>?2% mean outage.</a:t>
            </a:r>
            <a:endParaRPr lang="zh-CN" altLang="en-US" sz="1300" b="1">
              <a:solidFill>
                <a:srgbClr val="08734A"/>
              </a:solidFill>
              <a:latin typeface="Arial" panose="020B0604020202020204" pitchFamily="34" charset="0"/>
            </a:endParaRPr>
          </a:p>
        </p:txBody>
      </p:sp>
      <p:sp>
        <p:nvSpPr>
          <p:cNvPr id="45" name="矩形: 圆角 44">
            <a:extLst>
              <a:ext uri="{FF2B5EF4-FFF2-40B4-BE49-F238E27FC236}">
                <a16:creationId xmlns:a16="http://schemas.microsoft.com/office/drawing/2014/main" id="{D3E94485-0ECC-A722-666A-1BE31808FB28}"/>
              </a:ext>
            </a:extLst>
          </p:cNvPr>
          <p:cNvSpPr/>
          <p:nvPr/>
        </p:nvSpPr>
        <p:spPr>
          <a:xfrm>
            <a:off x="15430500" y="29718000"/>
            <a:ext cx="14033500" cy="7366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8EAFC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矩形: 圆角 45">
            <a:extLst>
              <a:ext uri="{FF2B5EF4-FFF2-40B4-BE49-F238E27FC236}">
                <a16:creationId xmlns:a16="http://schemas.microsoft.com/office/drawing/2014/main" id="{F8AD39A0-6225-F4F3-7E45-2E4094158CAA}"/>
              </a:ext>
            </a:extLst>
          </p:cNvPr>
          <p:cNvSpPr/>
          <p:nvPr/>
        </p:nvSpPr>
        <p:spPr>
          <a:xfrm>
            <a:off x="15430500" y="29718000"/>
            <a:ext cx="14033500" cy="406400"/>
          </a:xfrm>
          <a:prstGeom prst="roundRect">
            <a:avLst/>
          </a:prstGeom>
          <a:solidFill>
            <a:srgbClr val="B8CFE7"/>
          </a:solidFill>
          <a:ln w="2540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F4BB8574-5D71-1715-983C-1FC55F54E6D4}"/>
              </a:ext>
            </a:extLst>
          </p:cNvPr>
          <p:cNvSpPr txBox="1"/>
          <p:nvPr/>
        </p:nvSpPr>
        <p:spPr>
          <a:xfrm>
            <a:off x="15633700" y="29768800"/>
            <a:ext cx="13627100" cy="292388"/>
          </a:xfrm>
          <a:prstGeom prst="rect">
            <a:avLst/>
          </a:prstGeom>
          <a:noFill/>
        </p:spPr>
        <p:txBody>
          <a:bodyPr vert="horz" rtlCol="0" anchor="ctr">
            <a:spAutoFit/>
          </a:bodyPr>
          <a:lstStyle/>
          <a:p>
            <a:r>
              <a:rPr lang="en-US" altLang="zh-CN" sz="1300" b="1">
                <a:solidFill>
                  <a:srgbClr val="10243E"/>
                </a:solidFill>
                <a:latin typeface="Arial" panose="020B0604020202020204" pitchFamily="34" charset="0"/>
              </a:rPr>
              <a:t>METHOD COMPARISON VERSUS N_req</a:t>
            </a:r>
            <a:endParaRPr lang="zh-CN" altLang="en-US" sz="1300" b="1">
              <a:solidFill>
                <a:srgbClr val="10243E"/>
              </a:solidFill>
              <a:latin typeface="Arial" panose="020B0604020202020204" pitchFamily="34" charset="0"/>
            </a:endParaRPr>
          </a:p>
        </p:txBody>
      </p:sp>
      <p:pic>
        <p:nvPicPr>
          <p:cNvPr id="51" name="图片 50">
            <a:extLst>
              <a:ext uri="{FF2B5EF4-FFF2-40B4-BE49-F238E27FC236}">
                <a16:creationId xmlns:a16="http://schemas.microsoft.com/office/drawing/2014/main" id="{8F7BCEB5-3DE1-544C-851A-839A8939C19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05630" y="30289500"/>
            <a:ext cx="9083242" cy="5334000"/>
          </a:xfrm>
          <a:prstGeom prst="rect">
            <a:avLst/>
          </a:prstGeom>
        </p:spPr>
      </p:pic>
      <p:sp>
        <p:nvSpPr>
          <p:cNvPr id="53" name="文本框 52">
            <a:extLst>
              <a:ext uri="{FF2B5EF4-FFF2-40B4-BE49-F238E27FC236}">
                <a16:creationId xmlns:a16="http://schemas.microsoft.com/office/drawing/2014/main" id="{C50159EC-1497-2AA4-1E59-55429FC2B78B}"/>
              </a:ext>
            </a:extLst>
          </p:cNvPr>
          <p:cNvSpPr txBox="1"/>
          <p:nvPr/>
        </p:nvSpPr>
        <p:spPr>
          <a:xfrm>
            <a:off x="15875000" y="35687000"/>
            <a:ext cx="13081000" cy="292388"/>
          </a:xfrm>
          <a:prstGeom prst="rect">
            <a:avLst/>
          </a:prstGeom>
          <a:noFill/>
        </p:spPr>
        <p:txBody>
          <a:bodyPr vert="horz" rtlCol="0" anchor="ctr">
            <a:spAutoFit/>
          </a:bodyPr>
          <a:lstStyle/>
          <a:p>
            <a:pPr algn="ctr"/>
            <a:r>
              <a:rPr lang="en-US" altLang="zh-CN" sz="1300" b="1">
                <a:solidFill>
                  <a:srgbClr val="08734A"/>
                </a:solidFill>
                <a:latin typeface="Arial" panose="020B0604020202020204" pitchFamily="34" charset="0"/>
              </a:rPr>
              <a:t>FIM-aware recovery retains physical feasibility where nearest-AP and random baselines can fail.</a:t>
            </a:r>
            <a:endParaRPr lang="zh-CN" altLang="en-US" sz="1300" b="1">
              <a:solidFill>
                <a:srgbClr val="08734A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20004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2_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1_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495</Words>
  <Application>Microsoft Office PowerPoint</Application>
  <DocSecurity>0</DocSecurity>
  <PresentationFormat>自定义</PresentationFormat>
  <Paragraphs>42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4</vt:i4>
      </vt:variant>
      <vt:variant>
        <vt:lpstr>幻灯片标题</vt:lpstr>
      </vt:variant>
      <vt:variant>
        <vt:i4>1</vt:i4>
      </vt:variant>
    </vt:vector>
  </HeadingPairs>
  <TitlesOfParts>
    <vt:vector size="7" baseType="lpstr">
      <vt:lpstr>Arial</vt:lpstr>
      <vt:lpstr>Calibri</vt:lpstr>
      <vt:lpstr>Office Theme</vt:lpstr>
      <vt:lpstr>2_Custom Design</vt:lpstr>
      <vt:lpstr>1_Custom Design</vt:lpstr>
      <vt:lpstr>Custom Design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Xinpeng Yu</cp:lastModifiedBy>
  <cp:revision>1</cp:revision>
  <dcterms:created xsi:type="dcterms:W3CDTF">2026-07-28T09:51:17Z</dcterms:created>
  <dcterms:modified xsi:type="dcterms:W3CDTF">2026-07-28T13:50:49Z</dcterms:modified>
</cp:coreProperties>
</file>