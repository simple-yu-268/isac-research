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b890c538874579" /><Relationship Type="http://schemas.openxmlformats.org/officeDocument/2006/relationships/extended-properties" Target="/docProps/app.xml" Id="Rb2ec0374ed504217" /><Relationship Type="http://schemas.openxmlformats.org/officeDocument/2006/relationships/officeDocument" Target="/ppt/presentation.xml" Id="Rb6812d214347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f49b13c651481a"/>
    <p:sldMasterId xmlns:r="http://schemas.openxmlformats.org/officeDocument/2006/relationships" id="2147483660" r:id="R9c3aaeb6b09a4e26"/>
    <p:sldMasterId xmlns:r="http://schemas.openxmlformats.org/officeDocument/2006/relationships" id="2147483672" r:id="R91fd0d73d3244843"/>
    <p:sldMasterId xmlns:r="http://schemas.openxmlformats.org/officeDocument/2006/relationships" id="2147483684" r:id="Rb9b351f0bcf946cf"/>
  </p:sldMasterIdLst>
  <p:notesMasterIdLst>
    <p:notesMasterId xmlns:r="http://schemas.openxmlformats.org/officeDocument/2006/relationships" r:id="R58d889b1e87b4711"/>
  </p:notesMasterIdLst>
  <p:sldIdLst>
    <p:sldId xmlns:r="http://schemas.openxmlformats.org/officeDocument/2006/relationships" id="256" r:id="R00b5499c313241a6"/>
  </p:sldIdLst>
  <p:sldSz cx="30275213" cy="42811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d4f4081b44d58" /><Relationship Type="http://schemas.openxmlformats.org/officeDocument/2006/relationships/slideMaster" Target="/ppt/slideMasters/slideMaster1.xml" Id="Ra2f49b13c651481a" /><Relationship Type="http://schemas.openxmlformats.org/officeDocument/2006/relationships/slideMaster" Target="/ppt/slideMasters/slideMaster2.xml" Id="R9c3aaeb6b09a4e26" /><Relationship Type="http://schemas.openxmlformats.org/officeDocument/2006/relationships/slideMaster" Target="/ppt/slideMasters/slideMaster3.xml" Id="R91fd0d73d3244843" /><Relationship Type="http://schemas.openxmlformats.org/officeDocument/2006/relationships/slideMaster" Target="/ppt/slideMasters/slideMaster4.xml" Id="Rb9b351f0bcf946cf" /><Relationship Type="http://schemas.openxmlformats.org/officeDocument/2006/relationships/notesMaster" Target="/ppt/notesMasters/notesMaster1.xml" Id="R58d889b1e87b4711" /><Relationship Type="http://schemas.openxmlformats.org/officeDocument/2006/relationships/presProps" Target="/ppt/presProps.xml" Id="Rdd265035d256469c" /><Relationship Type="http://schemas.openxmlformats.org/officeDocument/2006/relationships/viewProps" Target="/ppt/viewProps.xml" Id="Ra45aa6f7fb5b4f9b" /><Relationship Type="http://schemas.openxmlformats.org/officeDocument/2006/relationships/tableStyles" Target="/ppt/tableStyles.xml" Id="Rce32d710bbac40e4" /><Relationship Type="http://schemas.openxmlformats.org/officeDocument/2006/relationships/slide" Target="/ppt/slides/slide1.xml" Id="R00b5499c313241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172fc51e7922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9a79866b244c4e" /><Relationship Type="http://schemas.openxmlformats.org/officeDocument/2006/relationships/notesMaster" Target="/ppt/notesMasters/notesMaster1.xml" Id="R85f79410e8024d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Edited directly from C:/Users/yxp02/Desktop/Thesis_Xinpeng/poster/Participation_Constrained_Cell_Free_ISAC_Poster_v7.pptx; original page dimensions, header/logo and lower branded block retained.</a:t>
            </a:r>
          </a:p>
          <a:p xmlns:a="http://schemas.openxmlformats.org/drawingml/2006/main">
            <a:r>
              <a:t>Technical content and numerical claims: C:/Users/yxp02/ISAC-Research/math_derivation_tex_v10/math_derivation_en.pdf and audited experiment package v1.0.</a:t>
            </a:r>
          </a:p>
          <a:p xmlns:a="http://schemas.openxmlformats.org/drawingml/2006/main">
            <a:r>
              <a:t>Figures: fig2_dual_dc_ablation, fig9_csi_robustness, fig10_method_comparison_vs_nreq.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a527b419149bd" /><Relationship Type="http://schemas.openxmlformats.org/officeDocument/2006/relationships/image" Target="/ppt/media/image.png" Id="R28539bbe08284e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103f99dc747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03c921e144c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9b168003349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5e9fa4ecc47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7023fee684b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ab2d16465428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a3e12747e46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a55b2000740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7e91453e04e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2df9c2423492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6b9601d24b4cc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ca6ce59e9b497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55424931344c0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bf4a528e3049c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63fa6bbf0044f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65fa19d46f42c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76b612b15f49c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a8940a3028497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efb5788170428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a74a11c592442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fd0b6440a54a7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e532d6f99a342c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d1284fe059e405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e43a8ea2e934fd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d049caaa7504a5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7555e48019042c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a244abc841458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7d5e0933d464dff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b116d46263f40d6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65cd1a57f31400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fbf320f58f44cb6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3797bc8027499a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8a6460d26b24122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ce9d66001164d93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b1a7320301247d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84566c5fb2b4791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c4a3be8f1504988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5ffad8f77d6473d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8f8b6f1c09e484e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fb129c4e73c4a39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0c0d42ea4bb4919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47e892019564ede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eddc1b5ed4b47c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39bbe08284e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30275213" cy="558265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700CE6-EBB3-44D8-8F26-E76C2FAB0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1D06EF-5D92-4BF5-AD16-9D2555226B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3761" y="9989400"/>
            <a:ext cx="27247692" cy="282537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1771EE-069D-49A6-9210-F424CF8A26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C40BDC-B124-464E-8A63-D659812B41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B48E74-5547-43D0-820B-4FE0CE466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0FA486-F034-4E93-9474-7477C6F02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1533" y="27510485"/>
            <a:ext cx="25733931" cy="85028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183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AC1272-38EC-4FBA-AAAF-C4C82D982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1533" y="18145428"/>
            <a:ext cx="25733931" cy="93650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8170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633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6450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5267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4084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2901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1718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05356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EACB41-2E9A-40C2-AE83-5BF1EF1C43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CA29E7-FDF7-4102-AB3C-7C5B4328BD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790942-C324-473A-BDAA-CE9BF0A19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8D3FCB-BCA5-424D-9EDA-4765458E9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814012-DB5D-4BE5-A41C-476683FED0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14332" y="62364364"/>
            <a:ext cx="44850417" cy="176370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800"/>
            </a:lvl1pPr>
            <a:lvl2pPr>
              <a:buNone/>
              <a:defRPr sz="110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EC240FD-1DDC-470C-9830-8D33096989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369338" y="62364364"/>
            <a:ext cx="44855671" cy="176370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800"/>
            </a:lvl1pPr>
            <a:lvl2pPr>
              <a:buNone/>
              <a:defRPr sz="110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8C335C-BAAC-4407-9CCA-92C4A22A78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5113394-0045-4565-B3F1-EF44FA9F4F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611F72-7A8C-4EB5-9E02-28CCE964B0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EDB0D-CB70-4C0F-AFD3-E914CC6FA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6D267F-AB9D-47B8-ACBA-565CB5467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3761" y="9583085"/>
            <a:ext cx="13376810" cy="3993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C4832EB-3F23-4016-AF5B-C9B2A31783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3761" y="13576859"/>
            <a:ext cx="13376810" cy="246662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41E574-1D5D-47D3-8558-C7FF31D026B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389" y="9583085"/>
            <a:ext cx="13382065" cy="3993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AC1FFDC-4C1B-4584-A5C9-B86E6FF9DC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389" y="13576859"/>
            <a:ext cx="13382065" cy="246662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6C38805-42ED-4F6A-AD13-26D5E461CE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E21F87D-0164-4E20-A281-5AD62B065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EB890D3-B7EB-4F40-B80C-77FAA0F44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09AC97-E305-42C2-B37A-791A59DE6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2ECC864-2FF2-4766-805A-71D32BB568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B9A50CC-1DC1-4866-AEAE-48BD852ADD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13C41C3-F491-411D-88D3-A0EC33D4A3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9436623-1C06-44AF-A57B-C6E049AD25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A506FB6-A67E-4CD6-B05D-A2519C8C19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EF7E38-6828-4EC6-8447-1B8A9C8105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1A6CAB-2E0D-4480-B874-14D8612DC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3" y="1704540"/>
            <a:ext cx="9960336" cy="7254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91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6072E9-5F6B-425E-A591-E3743316EC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767" y="1704543"/>
            <a:ext cx="16924685" cy="365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600"/>
            </a:lvl1pPr>
            <a:lvl2pPr>
              <a:buNone/>
              <a:defRPr sz="12800"/>
            </a:lvl2pPr>
            <a:lvl3pPr>
              <a:buNone/>
              <a:defRPr sz="11000"/>
            </a:lvl3pPr>
            <a:lvl4pPr>
              <a:buNone/>
              <a:defRPr sz="9100"/>
            </a:lvl4pPr>
            <a:lvl5pPr>
              <a:buNone/>
              <a:defRPr sz="9100"/>
            </a:lvl5pPr>
            <a:lvl6pPr>
              <a:buNone/>
              <a:defRPr sz="9100"/>
            </a:lvl6pPr>
            <a:lvl7pPr>
              <a:buNone/>
              <a:defRPr sz="9100"/>
            </a:lvl7pPr>
            <a:lvl8pPr>
              <a:buNone/>
              <a:defRPr sz="9100"/>
            </a:lvl8pPr>
            <a:lvl9pPr>
              <a:buNone/>
              <a:defRPr sz="9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2DCBDCF-A56F-49E7-95DC-2BA1C8242E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3763" y="8958748"/>
            <a:ext cx="9960336" cy="292843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92B38D-16AC-4C22-8671-42D84F73A0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75696B-B44F-475B-A606-BA68DAA21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E8D14F0-BCC6-4C47-8822-B17AB5269E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2C70C5-0290-4FA0-B5C1-A620422B6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154" y="29968190"/>
            <a:ext cx="18165128" cy="35379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91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AE57890-B409-4DAC-8D24-B3372D69A22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154" y="3825305"/>
            <a:ext cx="18165128" cy="25687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600"/>
            </a:lvl1pPr>
            <a:lvl2pPr marL="2088170" indent="0">
              <a:buNone/>
              <a:defRPr sz="12800"/>
            </a:lvl2pPr>
            <a:lvl3pPr marL="4176339" indent="0">
              <a:buNone/>
              <a:defRPr sz="11000"/>
            </a:lvl3pPr>
            <a:lvl4pPr marL="6264509" indent="0">
              <a:buNone/>
              <a:defRPr sz="9100"/>
            </a:lvl4pPr>
            <a:lvl5pPr marL="8352678" indent="0">
              <a:buNone/>
              <a:defRPr sz="9100"/>
            </a:lvl5pPr>
            <a:lvl6pPr marL="10440848" indent="0">
              <a:buNone/>
              <a:defRPr sz="9100"/>
            </a:lvl6pPr>
            <a:lvl7pPr marL="12529017" indent="0">
              <a:buNone/>
              <a:defRPr sz="9100"/>
            </a:lvl7pPr>
            <a:lvl8pPr marL="14617187" indent="0">
              <a:buNone/>
              <a:defRPr sz="9100"/>
            </a:lvl8pPr>
            <a:lvl9pPr marL="16705356" indent="0">
              <a:buNone/>
              <a:defRPr sz="91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1027B-CFB3-426C-9B31-88037D6397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154" y="33506104"/>
            <a:ext cx="18165128" cy="50244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983D3E6-1155-4A35-81CE-254FBB8A6C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73E8D3-F48B-46CA-9F75-26B19AD7C5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5FA4A4-793C-483D-BCE4-636A5B4430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98E119-37D9-4044-9102-53CBCD7CCD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ABA8C9-1609-492F-9C27-BC3DCA19B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3761" y="9989400"/>
            <a:ext cx="27247692" cy="282537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6788A9-0A22-49E2-A208-C16D3291AA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306DFA-00A8-408C-9949-59F474C6E9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C178AE-4FB1-4F88-9FDF-30D4884DA9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1172EDE-6C23-4C2E-B909-61FE64ADF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76283" y="10702928"/>
            <a:ext cx="22548726" cy="22803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6B304D-2633-47BD-BA0B-D3342EC933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014332" y="10702928"/>
            <a:ext cx="67157362" cy="22803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3070ED-2C65-4A0A-8E0B-BA0C2F1F15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02E37B-0EBC-4D97-8B7F-31BDD7EE5B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BC9B32-1A9D-41EB-9650-5FB73E1E5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5067BE-E559-4331-922E-78462D6CBE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125" y="13300075"/>
            <a:ext cx="25734963" cy="917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1C9CA4-6A29-4B6E-8B77-A9090C7513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838" y="24260175"/>
            <a:ext cx="21191537" cy="109410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1D5EFB-C74B-4D5F-9786-703A06E65A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216EB5-E87B-44E8-A57F-7EB3EC1F1A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20E6CB-FE54-42D2-BDE2-8C7DD4E538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4B6B42-DCC8-484E-94B0-89AA7B46BD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9ED3B0-0E70-4780-97C1-ACF289C0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5CDED0-769B-433E-9CD6-F3A5CF3746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66632E-5D28-47FD-9EB9-7C76BAB60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1C40F2-7211-4E65-82A6-64030D67F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AFF89C-21E5-4F62-B09D-B809BF324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0775" y="27509788"/>
            <a:ext cx="25734963" cy="8504237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3C5D7D-62BC-4823-9E1B-C2C65F718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0775" y="18145125"/>
            <a:ext cx="25734963" cy="93646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7A5996-9848-4447-BC2D-2009A67CC1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65807B-2519-4704-BDE7-AD74E39DD7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039C9A-A1DC-49B5-B705-039557A848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FDB68-8AB9-454D-B4B2-07DA8CC6D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32026B-0C64-4066-90C2-7128DC5F29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4475" y="9990138"/>
            <a:ext cx="13546138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5D53F50-1ED0-4CAC-80B8-94A422F1F71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213013" y="9990138"/>
            <a:ext cx="13547725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7A97B3-BEE9-4C70-BBC7-C8B18EA64A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2A626B-22E6-487F-98BB-0E5DCBA009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5C5B00-A769-4BBE-B34F-A571909EC3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E88246-D97D-4D40-8D62-E51DF3700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9BF13F-262F-45D0-BE77-C37D0E0A16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583738"/>
            <a:ext cx="13376275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63F0456-4DE1-4C5F-8014-E7E713945D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4475" y="13576300"/>
            <a:ext cx="13376275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1D614E6-A841-466B-90A9-F66510403E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700" y="9583738"/>
            <a:ext cx="13381038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523AA0B-E03E-498E-A167-71C65D0738C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700" y="13576300"/>
            <a:ext cx="13381038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9725188-5267-42CD-91BD-C3C101DB4F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7E74BC0-B672-4205-9708-039093DA53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B1F0075-62C9-4EF9-B471-6725A968F9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F398B5-269F-4997-A2EC-4DB534EFC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74FD5C2-1072-4F11-8E4E-FBA2A16818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1B4C92-FB3E-4A6A-BCFD-66F8AB9C1A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BB0D369-94FD-452F-BD58-7F9D81E90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22ABD4A-7306-4ACD-AB2B-24942F778C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1A0A463-5EA1-4FCE-9D46-026B9A09FB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9DE118C-CBEF-48BB-8187-B56390EA02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7E9A59-6D04-45A1-AA1F-59E78F7ED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04975"/>
            <a:ext cx="9959975" cy="725328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CE9506-2ED0-49F1-866F-2C354D87F1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400" y="1704975"/>
            <a:ext cx="16924338" cy="365379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926303-F03B-4886-8B59-A0C98A72AF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4475" y="8958263"/>
            <a:ext cx="9959975" cy="292846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14BB55C-3892-4B28-8851-16DD1D2A5D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DE39023-755C-499C-9B4D-756A7EACC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6F0323-9100-48CB-9923-C9E726B76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A0233-5E93-46B6-9410-003048504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075" y="29968825"/>
            <a:ext cx="18165763" cy="35369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1D5C9F0-CB7E-4AB0-91E4-1F70A93BF48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075" y="3825875"/>
            <a:ext cx="18165763" cy="256857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918A64-BC11-495A-BB2B-3A887A7CA0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075" y="33505775"/>
            <a:ext cx="18165763" cy="50244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7B4817-ECEE-4A9F-9948-2311AB121A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899654-DEB2-4172-8BA7-662DDE9BEB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5EAD63B-A53A-4FD8-AACD-BAE4AA6DFA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62AC32-D687-4779-9782-905029413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122E8D-AF6D-4E1C-B833-A3A9F746F7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361E08-1012-4E30-8C17-893D91F68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7356F3-439B-47F4-A6F0-190EC2951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590506-4FA1-47A8-B399-F76ED6108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A1C4EF0-EDB1-41BF-AD3E-3A87819DA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50363" y="1714500"/>
            <a:ext cx="6810375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A6C2C0-B1A1-4016-AE51-851A2FC524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1714500"/>
            <a:ext cx="20283488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9319ED-4CFE-46A3-93E4-7EC1498D34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C122AC-B4DE-4CEB-B816-39679754E1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66CF43-DBFD-4A09-BAD7-0E79616F57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E4AB47-3CD5-4420-A619-DE8026FB49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125" y="13300075"/>
            <a:ext cx="25734963" cy="917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9DA8AB-8151-43F8-9F6B-1154F5591F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838" y="24260175"/>
            <a:ext cx="21191537" cy="109410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3E1A59-610B-4548-A81B-83BCA3C74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68E7AA-E7DA-4285-AEB5-5D6294348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4835B4-E61B-4930-946E-4908F91DF8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067679-79F5-4655-9BC4-97E8F4083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8D1B97-6219-4591-8A8B-0FD4DD311B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9EEF64-5ADD-40F2-93F4-4283491A4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FBA9C4-7ABD-4F62-A592-787D06ABF5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460478-B504-4E71-BA9E-F5F1B19F4E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4B592B-FF8D-4A4A-B1E2-4F926FAA7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0775" y="27509788"/>
            <a:ext cx="25734963" cy="8504237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DE0019-3658-4D41-A9DC-E605F7A428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0775" y="18145125"/>
            <a:ext cx="25734963" cy="93646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F24B64-91CE-4624-9E02-6A53131703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7D3AA0-F98D-41B2-A9EC-FB7AFE1842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8F1556-49EE-4417-9BE0-D6437926C0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6B7718-144C-4F02-9757-474F8E1B5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03DC3D-0175-4B1F-BF25-5F57C61E53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4475" y="9990138"/>
            <a:ext cx="13546138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ED26090-CE81-4B61-AA5C-90A01DF2F5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213013" y="9990138"/>
            <a:ext cx="13547725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60E35F-383D-47D2-981F-C12555AA6C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6E6608C-A35B-435E-B2EA-0F08FDE508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D5F6A6-B278-4B73-A875-7DCB58F6E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ED8C66-4527-4259-AE77-47C72112A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178883-85E1-46FF-93C2-F4801CACD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583738"/>
            <a:ext cx="13376275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7931FB5-E4CD-494C-8FC7-6E6DA1B02E8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4475" y="13576300"/>
            <a:ext cx="13376275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36A95F1-3003-4573-802A-2CD95521235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700" y="9583738"/>
            <a:ext cx="13381038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694E564-D976-4889-9D1D-48F8777788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700" y="13576300"/>
            <a:ext cx="13381038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EC5E650-4342-4221-BC32-45CAF2B341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7884A27-EA35-4C16-97B5-6F67A7E979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BDE1A64-C7CE-4F29-AF7E-C3BEFD6099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19AB4D-050F-48DD-A66E-58E9DA28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8D83D35-BCBD-4FC4-A289-9924BF01E1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56DB7ED-C05E-4E60-A659-D28AF7A34B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16DC663-32C4-41FC-AFCD-58DD36573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5A7E2-A896-4C32-B5E9-46710F362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611DDB0-B1E8-4BA4-8D98-27FC1BC82D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F4CAB9D-9E4C-4534-95D4-8769DFAD74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C2BBB4-CB3C-4335-BADB-906A7865E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04975"/>
            <a:ext cx="9959975" cy="725328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686882-92A9-47B9-87A3-5D026493DF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400" y="1704975"/>
            <a:ext cx="16924338" cy="365379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340907A-38B8-4001-8A7D-DFB5D79742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4475" y="8958263"/>
            <a:ext cx="9959975" cy="292846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6CC75CD-05F2-4A5B-B493-B403C368B3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4A229F-B11F-4518-AB9A-CF89423C2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B9CD9F-7320-414F-93A7-BF9E6C4C15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4B724C-4E9D-4F63-9BF2-AB57333A1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075" y="29968825"/>
            <a:ext cx="18165763" cy="35369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449D5DE-E08F-4C70-A7D8-80394FDB848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075" y="3825875"/>
            <a:ext cx="18165763" cy="256857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80FF9BE-0122-4AEA-B8F8-5635E91E47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075" y="33505775"/>
            <a:ext cx="18165763" cy="50244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9A4D4C-6966-4947-BEDB-585659B0EF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2B072F-AA92-4C43-AE39-4FB0902096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BFF0C5-FC76-4BFC-B6AD-8D92425AC4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6FAB98-F78C-46F8-BFC1-F053C673E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700828-4FA6-49B7-AF03-99ED46362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41904F-EAC4-4D1A-B6B5-8C1C086124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9307EE-2332-4E11-8CE7-4FBA4287D6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0C6261-01EF-4AC1-A53E-124774C5B7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FA3820C-800A-45C0-BA34-90E24D346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50363" y="1714500"/>
            <a:ext cx="6810375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7676C2-EFFE-44CD-A92D-608DD9EE80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1714500"/>
            <a:ext cx="20283488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48007F-63E5-43A0-9C27-B6057AA41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4E1A05-691D-42EB-808E-CD1047A380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C7F73B-6626-4D7E-9630-CB051BE012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4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7E156B-8244-44B1-B5A3-B5934E5BB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125" y="13300075"/>
            <a:ext cx="25734963" cy="917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3ABBD00-288C-474D-95F2-92F3CB30E9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838" y="24260175"/>
            <a:ext cx="21191537" cy="109410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5A8076-E6FE-4036-BC56-FE5538B62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AC23AB-034E-46D6-856A-750BD8F6A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2DEDDC-4EE3-4AFF-973A-36AF4AA5DB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5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4A6A2F-6C6D-41B6-8173-267AE923D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B89247-C704-4B46-B7AA-158623F30D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E1B85E-94B6-4125-A4CA-B16F099639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007E71-F591-4DC4-A986-9BE9A3F7E9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B2B80-B64A-4588-8AF3-642C52B92E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6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3F0073-F48A-4080-AAD6-E12663321D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0775" y="27509788"/>
            <a:ext cx="25734963" cy="8504237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2291BE-EF9D-4ADC-8BF4-81B42FE6FF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0775" y="18145125"/>
            <a:ext cx="25734963" cy="93646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296AA2-7A0F-482C-B7E3-15BDBD9462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FD1D3E-247E-4AFB-901E-24842A00B5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0B0CB3-C20E-457A-A3A5-6EA3652AB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7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CBF0CC-2819-4FE4-AFF7-1C7AF0C87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45FBFB-E7D8-4823-A3CF-FB0590098A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4475" y="9990138"/>
            <a:ext cx="13546138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A6E129D-68F3-4312-A988-79A749C0814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213013" y="9990138"/>
            <a:ext cx="13547725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3C605B-F85D-4780-93B8-970B6AF20B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23EDEC-DFA6-4F4C-B73C-11AC1F86CF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2D31A2-FDF1-4401-81C4-846A0DF082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8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EDCD99-BB96-4AAA-9225-D0F464D2F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726E7C-0D1C-4207-921A-062ACA2AA4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583738"/>
            <a:ext cx="13376275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BD32BC-060E-4210-BB37-B369CFC2386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4475" y="13576300"/>
            <a:ext cx="13376275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A3C23B2-A03E-48B9-A7BD-F4C0C20C91A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700" y="9583738"/>
            <a:ext cx="13381038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0BD948-BBC7-481A-822E-EB633AA431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700" y="13576300"/>
            <a:ext cx="13381038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E811D-129E-473F-A2AB-9ABE4B4D18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E5E035F-04EC-4DBC-AFA5-265E9D04CD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7F266F5-76CE-44B6-A6B8-61212E769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9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3E72F1-5FF7-4503-8E5B-657C519BF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9504D1-7215-497B-98A9-43B60CD80D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495A3BF-4389-4E06-8E49-42ABB42B5D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8B1604D-87D3-4B8D-A9D3-BC0614FD6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0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21743B-C358-4706-8334-98BEE9069A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E3CBDDB-4AC3-44B6-B6E9-9883D6285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D42AF5B-F8F1-4F78-80E7-303D7D082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5B90E3-8775-4994-9655-ADDAC780C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04975"/>
            <a:ext cx="9959975" cy="725328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C0818D-13F8-4A13-9EFE-018B87DE9A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400" y="1704975"/>
            <a:ext cx="16924338" cy="365379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79FC362-3F22-4113-A86C-6EC7C37065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4475" y="8958263"/>
            <a:ext cx="9959975" cy="292846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57A83E2-6327-4C61-8577-89A2DDAFC1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1C3F64-2177-4569-A42E-2697C5D5B5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C52725C-8469-4D71-9ABC-2D8CE980F8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2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0600F4-4E9B-4328-937E-088791281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075" y="29968825"/>
            <a:ext cx="18165763" cy="35369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BF3093-5F0D-43BE-A2F9-2C798DED9E6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075" y="3825875"/>
            <a:ext cx="18165763" cy="256857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B0EFEEF-256B-4B28-8779-6E1EBE3B4B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075" y="33505775"/>
            <a:ext cx="18165763" cy="50244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4E386F-7B44-4772-BCED-D2B720E4C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F7A9FC4-D5AA-4E5F-ABA6-7E4B4A2EE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BAB3CFA-C23E-4A48-B8EB-4053030F6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3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FE2070-3BF7-4DD9-8F7F-8AC0566E3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34B4D0-DF65-40FC-B285-DA1892FF4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469348-871B-42E1-96E2-1011473DA0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D340D8-C290-4D1B-9A75-94C3B8188A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7597FC-80B1-4F82-9B7B-8BBFF99A8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4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EFF0362-0BF5-4E45-BB89-07661AD15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50363" y="1714500"/>
            <a:ext cx="6810375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25EECD-C7E7-46E7-8746-0E62653EC7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1714500"/>
            <a:ext cx="20283488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C10BB8-2F45-4CB4-A9A7-158ED45BEC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19EF3E-AD19-45A0-A4E0-2AF5CB35E9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C7A14D-6A09-46B0-8ADD-A2A7E6F30F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609f497b02684a16" /><Relationship Type="http://schemas.openxmlformats.org/officeDocument/2006/relationships/theme" Target="/ppt/slideMasters/theme/theme2.xml" Id="R60b9a988f58e4c97" /><Relationship Type="http://schemas.openxmlformats.org/officeDocument/2006/relationships/slideLayout" Target="/ppt/slideLayouts/slideLayout1.xml" Id="Raacbfb2de16e4324" /><Relationship Type="http://schemas.openxmlformats.org/officeDocument/2006/relationships/slideLayout" Target="/ppt/slideLayouts/slideLayout2.xml" Id="R7a618219d0d44969" /><Relationship Type="http://schemas.openxmlformats.org/officeDocument/2006/relationships/slideLayout" Target="/ppt/slideLayouts/slideLayout3.xml" Id="R27d1681ee9c64667" /><Relationship Type="http://schemas.openxmlformats.org/officeDocument/2006/relationships/slideLayout" Target="/ppt/slideLayouts/slideLayout4.xml" Id="Rafeb682c25334d6b" /><Relationship Type="http://schemas.openxmlformats.org/officeDocument/2006/relationships/slideLayout" Target="/ppt/slideLayouts/slideLayout5.xml" Id="R7ee9c71cbb6944d4" /><Relationship Type="http://schemas.openxmlformats.org/officeDocument/2006/relationships/slideLayout" Target="/ppt/slideLayouts/slideLayout6.xml" Id="R43b66ea36ef04682" /><Relationship Type="http://schemas.openxmlformats.org/officeDocument/2006/relationships/slideLayout" Target="/ppt/slideLayouts/slideLayout7.xml" Id="R7096696b95f84c87" /><Relationship Type="http://schemas.openxmlformats.org/officeDocument/2006/relationships/slideLayout" Target="/ppt/slideLayouts/slideLayout8.xml" Id="Red7288ff42db4c4b" /><Relationship Type="http://schemas.openxmlformats.org/officeDocument/2006/relationships/slideLayout" Target="/ppt/slideLayouts/slideLayout9.xml" Id="R1547ed3ec5194dca" /><Relationship Type="http://schemas.openxmlformats.org/officeDocument/2006/relationships/slideLayout" Target="/ppt/slideLayouts/slideLayout10.xml" Id="R01b2c938f49c46d5" /><Relationship Type="http://schemas.openxmlformats.org/officeDocument/2006/relationships/slideLayout" Target="/ppt/slideLayouts/slideLayout11.xml" Id="R9084e4db84ce4c8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cbcc5f781fe4103" /><Relationship Type="http://schemas.openxmlformats.org/officeDocument/2006/relationships/slideLayout" Target="/ppt/slideLayouts/slideLayout12.xml" Id="Rbb7037e4cc6543ac" /><Relationship Type="http://schemas.openxmlformats.org/officeDocument/2006/relationships/slideLayout" Target="/ppt/slideLayouts/slideLayout13.xml" Id="R44a0a7b0f7cf49c5" /><Relationship Type="http://schemas.openxmlformats.org/officeDocument/2006/relationships/slideLayout" Target="/ppt/slideLayouts/slideLayout14.xml" Id="Rde08eed415af4a75" /><Relationship Type="http://schemas.openxmlformats.org/officeDocument/2006/relationships/slideLayout" Target="/ppt/slideLayouts/slideLayout15.xml" Id="Ra49846a099514575" /><Relationship Type="http://schemas.openxmlformats.org/officeDocument/2006/relationships/slideLayout" Target="/ppt/slideLayouts/slideLayout16.xml" Id="Rcf86c77bb2ab42cf" /><Relationship Type="http://schemas.openxmlformats.org/officeDocument/2006/relationships/slideLayout" Target="/ppt/slideLayouts/slideLayout17.xml" Id="Rde6c73a101aa4a57" /><Relationship Type="http://schemas.openxmlformats.org/officeDocument/2006/relationships/slideLayout" Target="/ppt/slideLayouts/slideLayout18.xml" Id="Rb08bca7cfd134e39" /><Relationship Type="http://schemas.openxmlformats.org/officeDocument/2006/relationships/slideLayout" Target="/ppt/slideLayouts/slideLayout19.xml" Id="R55bcce6bd2e74231" /><Relationship Type="http://schemas.openxmlformats.org/officeDocument/2006/relationships/slideLayout" Target="/ppt/slideLayouts/slideLayout20.xml" Id="Rb29da58e7df94766" /><Relationship Type="http://schemas.openxmlformats.org/officeDocument/2006/relationships/slideLayout" Target="/ppt/slideLayouts/slideLayout21.xml" Id="Red28e0f5956c4b11" /><Relationship Type="http://schemas.openxmlformats.org/officeDocument/2006/relationships/slideLayout" Target="/ppt/slideLayouts/slideLayout22.xml" Id="R553c39110469412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4882cef1f194a94" /><Relationship Type="http://schemas.openxmlformats.org/officeDocument/2006/relationships/slideLayout" Target="/ppt/slideLayouts/slideLayout23.xml" Id="R66f640737e634489" /><Relationship Type="http://schemas.openxmlformats.org/officeDocument/2006/relationships/slideLayout" Target="/ppt/slideLayouts/slideLayout24.xml" Id="Rcad025a84e4d4539" /><Relationship Type="http://schemas.openxmlformats.org/officeDocument/2006/relationships/slideLayout" Target="/ppt/slideLayouts/slideLayout25.xml" Id="R546fe6ca37884b1b" /><Relationship Type="http://schemas.openxmlformats.org/officeDocument/2006/relationships/slideLayout" Target="/ppt/slideLayouts/slideLayout26.xml" Id="Ra2b787bd0217400a" /><Relationship Type="http://schemas.openxmlformats.org/officeDocument/2006/relationships/slideLayout" Target="/ppt/slideLayouts/slideLayout27.xml" Id="R03ddd3e5a2eb4963" /><Relationship Type="http://schemas.openxmlformats.org/officeDocument/2006/relationships/slideLayout" Target="/ppt/slideLayouts/slideLayout28.xml" Id="R8f4d96bfe9714533" /><Relationship Type="http://schemas.openxmlformats.org/officeDocument/2006/relationships/slideLayout" Target="/ppt/slideLayouts/slideLayout29.xml" Id="R1281586cf0224ab3" /><Relationship Type="http://schemas.openxmlformats.org/officeDocument/2006/relationships/slideLayout" Target="/ppt/slideLayouts/slideLayout30.xml" Id="Rcdae91b719634bd0" /><Relationship Type="http://schemas.openxmlformats.org/officeDocument/2006/relationships/slideLayout" Target="/ppt/slideLayouts/slideLayout31.xml" Id="Re0e1268fb7d64603" /><Relationship Type="http://schemas.openxmlformats.org/officeDocument/2006/relationships/slideLayout" Target="/ppt/slideLayouts/slideLayout32.xml" Id="R0c811bf81b3345a8" /><Relationship Type="http://schemas.openxmlformats.org/officeDocument/2006/relationships/slideLayout" Target="/ppt/slideLayouts/slideLayout33.xml" Id="R08598d7ac6bd4ea4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4a469ca911164c6c" /><Relationship Type="http://schemas.openxmlformats.org/officeDocument/2006/relationships/slideLayout" Target="/ppt/slideLayouts/slideLayout34.xml" Id="Rb06187e92d3a453c" /><Relationship Type="http://schemas.openxmlformats.org/officeDocument/2006/relationships/slideLayout" Target="/ppt/slideLayouts/slideLayout35.xml" Id="Rc697ce03c7ce4429" /><Relationship Type="http://schemas.openxmlformats.org/officeDocument/2006/relationships/slideLayout" Target="/ppt/slideLayouts/slideLayout36.xml" Id="Re1d7fb97fb7b4136" /><Relationship Type="http://schemas.openxmlformats.org/officeDocument/2006/relationships/slideLayout" Target="/ppt/slideLayouts/slideLayout37.xml" Id="R1e116605549944ac" /><Relationship Type="http://schemas.openxmlformats.org/officeDocument/2006/relationships/slideLayout" Target="/ppt/slideLayouts/slideLayout38.xml" Id="R484186f8906b4cb0" /><Relationship Type="http://schemas.openxmlformats.org/officeDocument/2006/relationships/slideLayout" Target="/ppt/slideLayouts/slideLayout39.xml" Id="Rfc5598762e5d4d3f" /><Relationship Type="http://schemas.openxmlformats.org/officeDocument/2006/relationships/slideLayout" Target="/ppt/slideLayouts/slideLayout40.xml" Id="Ra4ef7061254e44ca" /><Relationship Type="http://schemas.openxmlformats.org/officeDocument/2006/relationships/slideLayout" Target="/ppt/slideLayouts/slideLayout41.xml" Id="R885b377732974f7e" /><Relationship Type="http://schemas.openxmlformats.org/officeDocument/2006/relationships/slideLayout" Target="/ppt/slideLayouts/slideLayout42.xml" Id="Rb293d5bd73f14351" /><Relationship Type="http://schemas.openxmlformats.org/officeDocument/2006/relationships/slideLayout" Target="/ppt/slideLayouts/slideLayout43.xml" Id="R50e036173a6a4ad0" /><Relationship Type="http://schemas.openxmlformats.org/officeDocument/2006/relationships/slideLayout" Target="/ppt/slideLayouts/slideLayout44.xml" Id="R006da0c7bd3a4f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f497b0268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30275213" cy="3799876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6157E4-4F05-4611-B3E2-63A01C46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549" y="862280"/>
            <a:ext cx="9288371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0">
                <a:latin typeface="Arial"/>
                <a:ea typeface="Arial"/>
                <a:cs typeface="Arial"/>
              </a:rPr>
              <a:t>BE Thesis </a:t>
            </a:r>
            <a:r>
              <a:rPr sz="7200" b="0">
                <a:latin typeface="Arial"/>
                <a:ea typeface="Arial"/>
                <a:cs typeface="Arial"/>
              </a:rPr>
              <a:t>– S2/2016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bfb2de16e4324"/>
    <p:sldLayoutId xmlns:r="http://schemas.openxmlformats.org/officeDocument/2006/relationships" id="2147483650" r:id="R7a618219d0d44969"/>
    <p:sldLayoutId xmlns:r="http://schemas.openxmlformats.org/officeDocument/2006/relationships" id="2147483651" r:id="R27d1681ee9c64667"/>
    <p:sldLayoutId xmlns:r="http://schemas.openxmlformats.org/officeDocument/2006/relationships" id="2147483652" r:id="Rafeb682c25334d6b"/>
    <p:sldLayoutId xmlns:r="http://schemas.openxmlformats.org/officeDocument/2006/relationships" id="2147483653" r:id="R7ee9c71cbb6944d4"/>
    <p:sldLayoutId xmlns:r="http://schemas.openxmlformats.org/officeDocument/2006/relationships" id="2147483654" r:id="R43b66ea36ef04682"/>
    <p:sldLayoutId xmlns:r="http://schemas.openxmlformats.org/officeDocument/2006/relationships" id="2147483655" r:id="R7096696b95f84c87"/>
    <p:sldLayoutId xmlns:r="http://schemas.openxmlformats.org/officeDocument/2006/relationships" id="2147483656" r:id="Red7288ff42db4c4b"/>
    <p:sldLayoutId xmlns:r="http://schemas.openxmlformats.org/officeDocument/2006/relationships" id="2147483657" r:id="R1547ed3ec5194dca"/>
    <p:sldLayoutId xmlns:r="http://schemas.openxmlformats.org/officeDocument/2006/relationships" id="2147483658" r:id="R01b2c938f49c46d5"/>
    <p:sldLayoutId xmlns:r="http://schemas.openxmlformats.org/officeDocument/2006/relationships" id="2147483659" r:id="R9084e4db84ce4c87"/>
  </p:sldLayoutIdLst>
  <p:txStyles>
    <p:titleStyle>
      <a:lvl1pPr xmlns:a="http://schemas.openxmlformats.org/drawingml/2006/main" algn="ctr" defTabSz="2088170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566127" indent="-1566127" algn="l" defTabSz="2088170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393276" indent="-1305106" algn="l" defTabSz="2088170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220424" indent="-1044085" algn="l" defTabSz="2088170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308593" indent="-1044085" algn="l" defTabSz="2088170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396763" indent="-1044085" algn="l" defTabSz="2088170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1484933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573102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5661272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7749441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088170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176339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264509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8352678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440848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2529017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4617187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6705356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BDB3850-18CB-4C0A-AE00-9D6B1467D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14500"/>
            <a:ext cx="27246263" cy="7135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FC2FD5-D1B7-4244-960E-9F0ECE3A63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990138"/>
            <a:ext cx="27246263" cy="282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55FACD-AE7D-47A7-B785-47E1CC61F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514475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09824B-B203-4E1E-86FB-608B2060976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344150" y="39679563"/>
            <a:ext cx="9586913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D3AA5D-F6E0-4E33-8C5F-D701B5FC617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697950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b7037e4cc6543ac"/>
    <p:sldLayoutId xmlns:r="http://schemas.openxmlformats.org/officeDocument/2006/relationships" id="2147483662" r:id="R44a0a7b0f7cf49c5"/>
    <p:sldLayoutId xmlns:r="http://schemas.openxmlformats.org/officeDocument/2006/relationships" id="2147483663" r:id="Rde08eed415af4a75"/>
    <p:sldLayoutId xmlns:r="http://schemas.openxmlformats.org/officeDocument/2006/relationships" id="2147483664" r:id="Ra49846a099514575"/>
    <p:sldLayoutId xmlns:r="http://schemas.openxmlformats.org/officeDocument/2006/relationships" id="2147483665" r:id="Rcf86c77bb2ab42cf"/>
    <p:sldLayoutId xmlns:r="http://schemas.openxmlformats.org/officeDocument/2006/relationships" id="2147483666" r:id="Rde6c73a101aa4a57"/>
    <p:sldLayoutId xmlns:r="http://schemas.openxmlformats.org/officeDocument/2006/relationships" id="2147483667" r:id="Rb08bca7cfd134e39"/>
    <p:sldLayoutId xmlns:r="http://schemas.openxmlformats.org/officeDocument/2006/relationships" id="2147483668" r:id="R55bcce6bd2e74231"/>
    <p:sldLayoutId xmlns:r="http://schemas.openxmlformats.org/officeDocument/2006/relationships" id="2147483669" r:id="Rb29da58e7df94766"/>
    <p:sldLayoutId xmlns:r="http://schemas.openxmlformats.org/officeDocument/2006/relationships" id="2147483670" r:id="Red28e0f5956c4b11"/>
    <p:sldLayoutId xmlns:r="http://schemas.openxmlformats.org/officeDocument/2006/relationships" id="2147483671" r:id="R553c391104694126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4D85E76-0CA0-40E2-8910-53AE7CFF4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14500"/>
            <a:ext cx="27246263" cy="7135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3CBC6B-4811-4306-B587-349C4160FC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990138"/>
            <a:ext cx="27246263" cy="282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8C9BD2-8DD0-447D-A6F4-7542F1FC60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514475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1AE7C-63EB-4A91-9DEE-602DF51EBB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344150" y="39679563"/>
            <a:ext cx="9586913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04514A-34DF-4511-861B-335CA1F8C5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697950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66f640737e634489"/>
    <p:sldLayoutId xmlns:r="http://schemas.openxmlformats.org/officeDocument/2006/relationships" id="2147483674" r:id="Rcad025a84e4d4539"/>
    <p:sldLayoutId xmlns:r="http://schemas.openxmlformats.org/officeDocument/2006/relationships" id="2147483675" r:id="R546fe6ca37884b1b"/>
    <p:sldLayoutId xmlns:r="http://schemas.openxmlformats.org/officeDocument/2006/relationships" id="2147483676" r:id="Ra2b787bd0217400a"/>
    <p:sldLayoutId xmlns:r="http://schemas.openxmlformats.org/officeDocument/2006/relationships" id="2147483677" r:id="R03ddd3e5a2eb4963"/>
    <p:sldLayoutId xmlns:r="http://schemas.openxmlformats.org/officeDocument/2006/relationships" id="2147483678" r:id="R8f4d96bfe9714533"/>
    <p:sldLayoutId xmlns:r="http://schemas.openxmlformats.org/officeDocument/2006/relationships" id="2147483679" r:id="R1281586cf0224ab3"/>
    <p:sldLayoutId xmlns:r="http://schemas.openxmlformats.org/officeDocument/2006/relationships" id="2147483680" r:id="Rcdae91b719634bd0"/>
    <p:sldLayoutId xmlns:r="http://schemas.openxmlformats.org/officeDocument/2006/relationships" id="2147483681" r:id="Re0e1268fb7d64603"/>
    <p:sldLayoutId xmlns:r="http://schemas.openxmlformats.org/officeDocument/2006/relationships" id="2147483682" r:id="R0c811bf81b3345a8"/>
    <p:sldLayoutId xmlns:r="http://schemas.openxmlformats.org/officeDocument/2006/relationships" id="2147483683" r:id="R08598d7ac6bd4ea4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1EC3FB-CAFC-46AA-9348-C43C68582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14500"/>
            <a:ext cx="27246263" cy="7135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B1802B-33A5-492D-AA3C-87F305E98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990138"/>
            <a:ext cx="27246263" cy="282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E70C0C-98CF-4909-8664-B862070A72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514475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6EA974-9304-48C3-AE6F-69423B2B04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344150" y="39679563"/>
            <a:ext cx="9586913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17060-147F-43CC-822E-E083AD1DFB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697950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5" r:id="Rb06187e92d3a453c"/>
    <p:sldLayoutId xmlns:r="http://schemas.openxmlformats.org/officeDocument/2006/relationships" id="2147483686" r:id="Rc697ce03c7ce4429"/>
    <p:sldLayoutId xmlns:r="http://schemas.openxmlformats.org/officeDocument/2006/relationships" id="2147483687" r:id="Re1d7fb97fb7b4136"/>
    <p:sldLayoutId xmlns:r="http://schemas.openxmlformats.org/officeDocument/2006/relationships" id="2147483688" r:id="R1e116605549944ac"/>
    <p:sldLayoutId xmlns:r="http://schemas.openxmlformats.org/officeDocument/2006/relationships" id="2147483689" r:id="R484186f8906b4cb0"/>
    <p:sldLayoutId xmlns:r="http://schemas.openxmlformats.org/officeDocument/2006/relationships" id="2147483690" r:id="Rfc5598762e5d4d3f"/>
    <p:sldLayoutId xmlns:r="http://schemas.openxmlformats.org/officeDocument/2006/relationships" id="2147483691" r:id="Ra4ef7061254e44ca"/>
    <p:sldLayoutId xmlns:r="http://schemas.openxmlformats.org/officeDocument/2006/relationships" id="2147483692" r:id="R885b377732974f7e"/>
    <p:sldLayoutId xmlns:r="http://schemas.openxmlformats.org/officeDocument/2006/relationships" id="2147483693" r:id="Rb293d5bd73f14351"/>
    <p:sldLayoutId xmlns:r="http://schemas.openxmlformats.org/officeDocument/2006/relationships" id="2147483694" r:id="R50e036173a6a4ad0"/>
    <p:sldLayoutId xmlns:r="http://schemas.openxmlformats.org/officeDocument/2006/relationships" id="2147483695" r:id="R006da0c7bd3a4f3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17c3b774d4aa9" /><Relationship Type="http://schemas.openxmlformats.org/officeDocument/2006/relationships/image" Target="/ppt/media/image2.png" Id="R8ba54de0925243de" /><Relationship Type="http://schemas.openxmlformats.org/officeDocument/2006/relationships/image" Target="/ppt/media/image3.png" Id="Rcb662e9d75564e28" /><Relationship Type="http://schemas.openxmlformats.org/officeDocument/2006/relationships/image" Target="/ppt/media/image4.png" Id="R57542e5207e44873" /><Relationship Type="http://schemas.openxmlformats.org/officeDocument/2006/relationships/image" Target="/ppt/media/image5.png" Id="Ra0fa3291119c42ff" /><Relationship Type="http://schemas.openxmlformats.org/officeDocument/2006/relationships/image" Target="/ppt/media/image6.png" Id="Reea566c0c000413c" /><Relationship Type="http://schemas.openxmlformats.org/officeDocument/2006/relationships/image" Target="/ppt/media/image7.png" Id="Rcccc2011f1bf4245" /><Relationship Type="http://schemas.openxmlformats.org/officeDocument/2006/relationships/notesSlide" Target="/ppt/notesSlides/notesSlide1.xml" Id="R4601fda105964d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3F13A47A-37C9-49E1-9083-1490069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8" y="15503972"/>
            <a:ext cx="13827383" cy="338410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CD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D66AB5F8-AA13-4B12-8E31-30E977B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9" y="19255119"/>
            <a:ext cx="28677536" cy="18202106"/>
          </a:xfrm>
          <a:prstGeom xmlns:a="http://schemas.openxmlformats.org/drawingml/2006/main" prst="roundRect">
            <a:avLst>
              <a:gd name="adj" fmla="val 4369"/>
            </a:avLst>
          </a:prstGeom>
          <a:noFill xmlns:a="http://schemas.openxmlformats.org/drawingml/2006/main"/>
          <a:ln xmlns:a="http://schemas.openxmlformats.org/drawingml/2006/main" w="127000">
            <a:solidFill>
              <a:srgbClr val="B9CDE5"/>
            </a:solidFill>
          </a:ln>
          <a:effectLst xmlns:a="http://schemas.openxmlformats.org/drawingml/2006/main">
            <a:outerShdw blurRad="40000" dist="23000" dir="5400000" rotWithShape="0">
              <a:schemeClr val="bg1">
                <a:alpha val="0"/>
              </a:scheme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1ED4BAE9-E9E5-482D-97F5-9969BF65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9" y="9428767"/>
            <a:ext cx="20353469" cy="5420628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B9CDE5"/>
            </a:solidFill>
          </a:ln>
          <a:effectLst xmlns:a="http://schemas.openxmlformats.org/drawingml/2006/main">
            <a:outerShdw blurRad="40000" dist="23000" dir="5400000" rotWithShape="0">
              <a:schemeClr val="bg1">
                <a:alpha val="0"/>
              </a:scheme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9E3FA2-F417-4890-9773-7329A40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25717500" cy="3688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0243E"/>
                </a:solidFill>
              </a:defRPr>
            </a:pPr>
            <a:r>
              <a:rPr sz="25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Robust Beamforming for Participation-Constrained Cell-Free ISAC Systems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243E"/>
                </a:solidFill>
              </a:defRPr>
            </a:pPr>
            <a:r>
              <a:rPr sz="2550" b="1" i="1">
                <a:solidFill>
                  <a:srgbClr val="10243E"/>
                </a:solidFill>
                <a:latin typeface="Arial"/>
                <a:ea typeface="Arial"/>
                <a:cs typeface="Arial"/>
              </a:rPr>
              <a:t>Xinpeng Yu | Supervisors: Derrick Ng and Shaokang Hu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2CE3496-9351-42AB-878F-D4C779F7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70" y="9787941"/>
            <a:ext cx="8493287" cy="6609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ABSTRACT &amp; RATIONALE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A5AA22-CE92-4CF1-9F5A-F7536033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1" y="15819549"/>
            <a:ext cx="1262246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OBJECTIVES &amp; SYSTEM MODEL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988B42-15E3-4463-A851-EA6B0A8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0" y="19840341"/>
            <a:ext cx="2763400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latin typeface="Arial"/>
                <a:ea typeface="Arial"/>
                <a:cs typeface="Arial"/>
              </a:rPr>
              <a:t>RESULTS &amp; DEMONSTRATION</a:t>
            </a:r>
          </a:p>
        </p:txBody>
      </p:sp>
      <p:pic>
        <p:nvPicPr>
          <p:cNvPr id="1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54de0925243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00" y="10858500"/>
            <a:ext cx="7620000" cy="3228975"/>
          </a:xfrm>
          <a:prstGeom xmlns:a="http://schemas.openxmlformats.org/drawingml/2006/main" prst="roundRect">
            <a:avLst/>
          </a:prstGeo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62e9d75564e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5225" y="23955375"/>
            <a:ext cx="22860000" cy="6315075"/>
          </a:xfrm>
          <a:prstGeom xmlns:a="http://schemas.openxmlformats.org/drawingml/2006/main" prst="rect">
            <a:avLst/>
          </a:prstGeom>
        </p:spPr>
      </p:pic>
      <p:pic>
        <p:nvPicPr>
          <p:cNvPr id="12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42e5207e448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5225" y="30337125"/>
            <a:ext cx="22860000" cy="6772275"/>
          </a:xfrm>
          <a:prstGeom xmlns:a="http://schemas.openxmlformats.org/drawingml/2006/main" prst="rect">
            <a:avLst/>
          </a:prstGeom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BFF4D1D-1058-4A03-AC3E-40AE603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69" y="10718344"/>
            <a:ext cx="19048660" cy="3714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- 6G applications need simultaneous communication and high-precision sensing. Cell-free massive MIMO ISAC avoids duplicated spectrum, but imperfect CSI and non-convex resource allocation hinder deployment.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Gap: a nearest/path-loss AP cluster can contain APs with zero dedicated sensing power, so nominal selection is not physically meaningful participation.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Aim: minimise total transmit power while meeting robust communication SINR, sensing SINR and position-PCRB tracking constraints.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Thesis claim: AP-target participation must be optimised jointly with robust beamforming to obtain physically feasible, energy-efficient sensing clusters.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Evidence is reported only after fixed-topology re-optimisation and explicit feasibility validation.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66DD3917-8CB5-4789-864D-F6FE5EDB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2" y="16619828"/>
            <a:ext cx="12608212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1. Optimise AP-target participation and robust transmit covariances jointly.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2. Tested system: M=6 APs, Nt=2 antennas/AP, K=3 UEs, P=2 targets, 400 m x 400 m.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3. Each target selects exactly Nreq APs through b_mp in {0,1}.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4. The sensing-power gate forces every selected AP to radiate nonzero dedicated sensing power.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5. Communication remains globally cooperative; only dedicated sensing is participation-gated.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AEA5035-594B-403D-8780-88838A44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0" y="20940568"/>
            <a:ext cx="12008089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i="1">
                <a:latin typeface="Arial"/>
                <a:ea typeface="Arial"/>
                <a:cs typeface="Arial"/>
              </a:rPr>
              <a:t>HOW TO READ THE SIX RESULT PANELS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48D57D3-8807-4183-ACB8-B18D641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1" y="21872392"/>
            <a:ext cx="1333500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96BA4BB9-C6E3-4442-A7F3-41BFD736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7" y="37911314"/>
            <a:ext cx="28677537" cy="425270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CD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56CF20C2-091B-4AF8-9A81-E7E7844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066" y="38379409"/>
            <a:ext cx="1262246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CONCLUSIONS, LIMITATIONS &amp; FUTURE WORK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C154571-5207-46E5-81CC-A8B7B4DE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067" y="39179688"/>
            <a:ext cx="135255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Findings: sparse sensing authorization should be geometry-aware; robust CSI protection is essential; the final design is certified after fixed-topology re-optimization. Limitation: fronthaul and compute energy are not yet included. Future work: distributed optimization and hardware-in-the-loop validation.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ABB900C7-1666-4E57-B076-0B526C2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888" y="15503972"/>
            <a:ext cx="14386357" cy="338410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CD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DFA05C1-EB73-43B2-A62F-09150F7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1271" y="15819549"/>
            <a:ext cx="1262246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CORE ALGORITHM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3BB5E58-11C6-47CC-90BE-EB86292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1272" y="16619828"/>
            <a:ext cx="12608212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1. Covariance lifting and semidefinite relaxation (SDR).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2. S-procedure for bounded CSI uncertainty in robust SINR constraints.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3. Schur-complement LMI reformulation of the PCRB tracking constraint.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4. Dual-DC successive convex approximation for rank and binary recovery.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5. Fix recovered topology, re-optimise, then validate power, SINR, PCRB and association gates.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A62FC93-7B03-4244-A01F-D96006A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019" y="1816752"/>
            <a:ext cx="10132802" cy="11695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0" b="1">
                <a:latin typeface="Arial"/>
                <a:ea typeface="Arial"/>
                <a:cs typeface="Arial"/>
              </a:rPr>
              <a:t>Thesis  2026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BE32F7-9F6D-4E9B-A926-17C22F8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812250"/>
            <a:ext cx="13144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1. Feasibility: all clusters pass the nonzero-power gate.</a:t>
            </a:r>
          </a:p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2. Power: Nreq=4 gives the minimum, 29.50 mW.</a:t>
            </a:r>
          </a:p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3. Runtime: SCA solves one trial in 2.6-6.1 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B4A414-EA86-49EE-9E74-5E0F62E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21812250"/>
            <a:ext cx="13525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4. Certified feasibility: both designs pass before perturbation.</a:t>
            </a:r>
          </a:p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5. Outage: robust 0%; nominal 89.0-91.9%.</a:t>
            </a:r>
          </a:p>
          <a:p xmlns:a="http://schemas.openxmlformats.org/drawingml/2006/main">
            <a:pPr>
              <a:buNone/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6. Robustness cost: power rises slightly with CSI uncertainty.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8FB8FB-09FD-4AB3-89E6-A0BB81F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9572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6B3778-47AE-4F96-93BF-3442DFF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8385750"/>
            <a:ext cx="1190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KEY PARAMETERS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A8895C-161B-4D97-AE42-C59A9254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9052500"/>
            <a:ext cx="119062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Network: M=6 APs, Nt=2, K=3 UEs, P=2 targets</a:t>
            </a:r>
          </a:p>
          <a:p xmlns:a="http://schemas.openxmlformats.org/drawingml/2006/main">
            <a:pPr>
              <a:buNone/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Area: 400 m x 400 m</a:t>
            </a:r>
          </a:p>
          <a:p xmlns:a="http://schemas.openxmlformats.org/drawingml/2006/main">
            <a:pPr>
              <a:buNone/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Participation: Nreq=2 to 6 (default 3)</a:t>
            </a:r>
          </a:p>
          <a:p xmlns:a="http://schemas.openxmlformats.org/drawingml/2006/main">
            <a:pPr>
              <a:buNone/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Pmax=0.1 W; sensing gate = 1 to 100 mW</a:t>
            </a:r>
          </a:p>
          <a:p xmlns:a="http://schemas.openxmlformats.org/drawingml/2006/main">
            <a:pPr>
              <a:buNone/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CSI uncertainty: epsilon_h=0.05; 30 common seeds</a:t>
            </a:r>
          </a:p>
        </p:txBody>
      </p:sp>
      <p:sp>
        <p:nvSpPr>
          <p:cNvPr id="80" name="central_canvas">
            <a:extLst xmlns:a="http://schemas.openxmlformats.org/drawingml/2006/main">
              <a:ext uri="{FF2B5EF4-FFF2-40B4-BE49-F238E27FC236}">
                <a16:creationId xmlns:a16="http://schemas.microsoft.com/office/drawing/2014/main" id="{426F4568-6662-43DD-ABB8-4833F1E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30241875" cy="2924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ationale_body">
            <a:extLst xmlns:a="http://schemas.openxmlformats.org/drawingml/2006/main">
              <a:ext uri="{FF2B5EF4-FFF2-40B4-BE49-F238E27FC236}">
                <a16:creationId xmlns:a16="http://schemas.microsoft.com/office/drawing/2014/main" id="{8C0DC13B-2DB4-48B8-9FB1-DC210DE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0"/>
            <a:ext cx="1381125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AFCD"/>
            </a:solidFill>
            <a:prstDash val="solid"/>
          </a:ln>
        </p:spPr>
      </p:sp>
      <p:sp>
        <p:nvSpPr>
          <p:cNvPr id="82" name="rationale_head">
            <a:extLst xmlns:a="http://schemas.openxmlformats.org/drawingml/2006/main">
              <a:ext uri="{FF2B5EF4-FFF2-40B4-BE49-F238E27FC236}">
                <a16:creationId xmlns:a16="http://schemas.microsoft.com/office/drawing/2014/main" id="{02EF70F4-1BEF-4EDD-88EE-7FF856DA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0"/>
            <a:ext cx="1381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C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rationale_heading">
            <a:extLst xmlns:a="http://schemas.openxmlformats.org/drawingml/2006/main">
              <a:ext uri="{FF2B5EF4-FFF2-40B4-BE49-F238E27FC236}">
                <a16:creationId xmlns:a16="http://schemas.microsoft.com/office/drawing/2014/main" id="{0DAF83B9-B652-4ABD-AA0A-5F63C3E1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115425"/>
            <a:ext cx="1339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ABSTRACT &amp; RATIONALE</a:t>
            </a:r>
          </a:p>
        </p:txBody>
      </p:sp>
      <p:sp>
        <p:nvSpPr>
          <p:cNvPr id="84" name="rationale_text">
            <a:extLst xmlns:a="http://schemas.openxmlformats.org/drawingml/2006/main">
              <a:ext uri="{FF2B5EF4-FFF2-40B4-BE49-F238E27FC236}">
                <a16:creationId xmlns:a16="http://schemas.microsoft.com/office/drawing/2014/main" id="{83362145-15DF-46DB-A071-519EA384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9763125"/>
            <a:ext cx="130016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43E"/>
                </a:solidFill>
              </a:defRPr>
            </a:pPr>
            <a:r>
              <a:rPr sz="1800" b="0">
                <a:solidFill>
                  <a:srgbClr val="10243E"/>
                </a:solidFill>
              </a:rPr>
              <a:t>Cell-free ISAC must retain globally cooperative communication while using a sparse and physically meaningful sensing cluster. We minimize transmit power under robust communication SINR, sensing SINR, and PCRB tracking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243E"/>
                </a:solidFill>
              </a:defRPr>
            </a:pPr>
            <a:r>
              <a:rPr sz="1800" b="0">
                <a:solidFill>
                  <a:srgbClr val="10243E"/>
                </a:solidFill>
              </a:rPr>
              <a:t>The association b_mp gates only the target-p dedicated sensing waveform S_p. Communication covariances remain globally cooperative.</a:t>
            </a:r>
          </a:p>
        </p:txBody>
      </p:sp>
      <p:sp>
        <p:nvSpPr>
          <p:cNvPr id="85" name="model_body">
            <a:extLst xmlns:a="http://schemas.openxmlformats.org/drawingml/2006/main">
              <a:ext uri="{FF2B5EF4-FFF2-40B4-BE49-F238E27FC236}">
                <a16:creationId xmlns:a16="http://schemas.microsoft.com/office/drawing/2014/main" id="{D9A31852-B00B-4966-BA7D-6DF490EF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048750"/>
            <a:ext cx="138303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AFCD"/>
            </a:solidFill>
            <a:prstDash val="solid"/>
          </a:ln>
        </p:spPr>
      </p:sp>
      <p:sp>
        <p:nvSpPr>
          <p:cNvPr id="86" name="model_head">
            <a:extLst xmlns:a="http://schemas.openxmlformats.org/drawingml/2006/main">
              <a:ext uri="{FF2B5EF4-FFF2-40B4-BE49-F238E27FC236}">
                <a16:creationId xmlns:a16="http://schemas.microsoft.com/office/drawing/2014/main" id="{3CF49D21-6A66-44B6-B78A-E427BC8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048750"/>
            <a:ext cx="13830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C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model_heading">
            <a:extLst xmlns:a="http://schemas.openxmlformats.org/drawingml/2006/main">
              <a:ext uri="{FF2B5EF4-FFF2-40B4-BE49-F238E27FC236}">
                <a16:creationId xmlns:a16="http://schemas.microsoft.com/office/drawing/2014/main" id="{93686D96-2A72-4CBF-810C-0F295342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115425"/>
            <a:ext cx="1341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MODEL AND CLAIM</a:t>
            </a:r>
          </a:p>
        </p:txBody>
      </p:sp>
      <p:sp>
        <p:nvSpPr>
          <p:cNvPr id="88" name="model_text">
            <a:extLst xmlns:a="http://schemas.openxmlformats.org/drawingml/2006/main">
              <a:ext uri="{FF2B5EF4-FFF2-40B4-BE49-F238E27FC236}">
                <a16:creationId xmlns:a16="http://schemas.microsoft.com/office/drawing/2014/main" id="{DC770792-00C0-4D31-BBC6-55E297D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763125"/>
            <a:ext cx="12954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43E"/>
                </a:solidFill>
              </a:defRPr>
            </a:pPr>
            <a:r>
              <a:rPr sz="1800" b="0">
                <a:solidFill>
                  <a:srgbClr val="10243E"/>
                </a:solidFill>
              </a:rPr>
              <a:t>M=6 APs, N_t=2 antennas/AP, K=3 UEs, P=2 targets. Each target has exactly N_req sensing AP authorizations.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243E"/>
                </a:solidFill>
              </a:defRPr>
            </a:pPr>
            <a:r>
              <a:rPr sz="1800" b="0">
                <a:solidFill>
                  <a:srgbClr val="10243E"/>
                </a:solidFill>
              </a:rPr>
              <a:t>AP power is hard limited by P_max. Selected APs carry nonzero dedicated sensing power. Geometry determines sensing-cluster quality; robust beamforming manages communication QoS.</a:t>
            </a:r>
          </a:p>
        </p:txBody>
      </p:sp>
      <p:sp>
        <p:nvSpPr>
          <p:cNvPr id="89" name="algorithm_heading">
            <a:extLst xmlns:a="http://schemas.openxmlformats.org/drawingml/2006/main">
              <a:ext uri="{FF2B5EF4-FFF2-40B4-BE49-F238E27FC236}">
                <a16:creationId xmlns:a16="http://schemas.microsoft.com/office/drawing/2014/main" id="{6622E720-55E0-42F1-8F57-875EAEDF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58875"/>
            <a:ext cx="2809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CORE ALGORITHM: DUAL-DC RECOVERY WITH PHYSICAL CERTIFICATION</a:t>
            </a:r>
          </a:p>
        </p:txBody>
      </p:sp>
      <p:sp>
        <p:nvSpPr>
          <p:cNvPr id="90" name="steps_body">
            <a:extLst xmlns:a="http://schemas.openxmlformats.org/drawingml/2006/main">
              <a:ext uri="{FF2B5EF4-FFF2-40B4-BE49-F238E27FC236}">
                <a16:creationId xmlns:a16="http://schemas.microsoft.com/office/drawing/2014/main" id="{AB279B74-2249-44D1-A932-11017FA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25625"/>
            <a:ext cx="9429750" cy="13335000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AFCD"/>
            </a:solidFill>
            <a:prstDash val="solid"/>
          </a:ln>
        </p:spPr>
      </p:sp>
      <p:sp>
        <p:nvSpPr>
          <p:cNvPr id="91" name="steps_head">
            <a:extLst xmlns:a="http://schemas.openxmlformats.org/drawingml/2006/main">
              <a:ext uri="{FF2B5EF4-FFF2-40B4-BE49-F238E27FC236}">
                <a16:creationId xmlns:a16="http://schemas.microsoft.com/office/drawing/2014/main" id="{5F8A275A-8322-4C6B-83BE-F263FB15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25625"/>
            <a:ext cx="942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C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steps_heading">
            <a:extLst xmlns:a="http://schemas.openxmlformats.org/drawingml/2006/main">
              <a:ext uri="{FF2B5EF4-FFF2-40B4-BE49-F238E27FC236}">
                <a16:creationId xmlns:a16="http://schemas.microsoft.com/office/drawing/2014/main" id="{78D96795-E4D5-48F0-AE94-7E74680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92300"/>
            <a:ext cx="901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THREE-STAGE OPTIMIZATION</a:t>
            </a:r>
          </a:p>
        </p:txBody>
      </p:sp>
      <p:sp>
        <p:nvSpPr>
          <p:cNvPr id="93" name="step1_bg">
            <a:extLst xmlns:a="http://schemas.openxmlformats.org/drawingml/2006/main">
              <a:ext uri="{FF2B5EF4-FFF2-40B4-BE49-F238E27FC236}">
                <a16:creationId xmlns:a16="http://schemas.microsoft.com/office/drawing/2014/main" id="{A3569461-EB6F-49B8-881D-856586A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0"/>
            <a:ext cx="86106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tep1_title">
            <a:extLst xmlns:a="http://schemas.openxmlformats.org/drawingml/2006/main">
              <a:ext uri="{FF2B5EF4-FFF2-40B4-BE49-F238E27FC236}">
                <a16:creationId xmlns:a16="http://schemas.microsoft.com/office/drawing/2014/main" id="{239FB5F1-01DA-417E-A1BE-242E5D53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525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5A98"/>
                </a:solidFill>
              </a:defRPr>
            </a:pPr>
            <a:r>
              <a:rPr sz="2175" b="1">
                <a:solidFill>
                  <a:srgbClr val="075A98"/>
                </a:solidFill>
              </a:rPr>
              <a:t>1  Relax</a:t>
            </a:r>
          </a:p>
        </p:txBody>
      </p:sp>
      <p:sp>
        <p:nvSpPr>
          <p:cNvPr id="95" name="step1_text">
            <a:extLst xmlns:a="http://schemas.openxmlformats.org/drawingml/2006/main">
              <a:ext uri="{FF2B5EF4-FFF2-40B4-BE49-F238E27FC236}">
                <a16:creationId xmlns:a16="http://schemas.microsoft.com/office/drawing/2014/main" id="{CD57F4A4-416D-4A3D-AF33-3C8E375C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97250"/>
            <a:ext cx="771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E"/>
                </a:solidFill>
              </a:defRPr>
            </a:pPr>
            <a:r>
              <a:rPr sz="1650" b="0">
                <a:solidFill>
                  <a:srgbClr val="10243E"/>
                </a:solidFill>
              </a:rPr>
              <a:t>Lift covariances, use the S-procedure, and express PCRB with Schur-complement LMIs.</a:t>
            </a:r>
          </a:p>
        </p:txBody>
      </p:sp>
      <p:sp>
        <p:nvSpPr>
          <p:cNvPr id="96" name="step2_bg">
            <a:extLst xmlns:a="http://schemas.openxmlformats.org/drawingml/2006/main">
              <a:ext uri="{FF2B5EF4-FFF2-40B4-BE49-F238E27FC236}">
                <a16:creationId xmlns:a16="http://schemas.microsoft.com/office/drawing/2014/main" id="{D9B6F616-39C1-4607-9E7D-AA427E1D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49875"/>
            <a:ext cx="86106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step2_title">
            <a:extLst xmlns:a="http://schemas.openxmlformats.org/drawingml/2006/main">
              <a:ext uri="{FF2B5EF4-FFF2-40B4-BE49-F238E27FC236}">
                <a16:creationId xmlns:a16="http://schemas.microsoft.com/office/drawing/2014/main" id="{89C17DFA-6C0D-4722-BB3D-E3BCC5D1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335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5A98"/>
                </a:solidFill>
              </a:defRPr>
            </a:pPr>
            <a:r>
              <a:rPr sz="2175" b="1">
                <a:solidFill>
                  <a:srgbClr val="075A98"/>
                </a:solidFill>
              </a:rPr>
              <a:t>2  Recover</a:t>
            </a:r>
          </a:p>
        </p:txBody>
      </p:sp>
      <p:sp>
        <p:nvSpPr>
          <p:cNvPr id="98" name="step2_text">
            <a:extLst xmlns:a="http://schemas.openxmlformats.org/drawingml/2006/main">
              <a:ext uri="{FF2B5EF4-FFF2-40B4-BE49-F238E27FC236}">
                <a16:creationId xmlns:a16="http://schemas.microsoft.com/office/drawing/2014/main" id="{6B2D961B-40CF-41F3-8840-8216D29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907125"/>
            <a:ext cx="771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E"/>
                </a:solidFill>
              </a:defRPr>
            </a:pPr>
            <a:r>
              <a:rPr sz="1650" b="0">
                <a:solidFill>
                  <a:srgbClr val="10243E"/>
                </a:solidFill>
              </a:rPr>
              <a:t>Apply coupled rank and binary DC penalties to form a stable AP-target topology.</a:t>
            </a:r>
          </a:p>
        </p:txBody>
      </p:sp>
      <p:sp>
        <p:nvSpPr>
          <p:cNvPr id="99" name="step3_bg">
            <a:extLst xmlns:a="http://schemas.openxmlformats.org/drawingml/2006/main">
              <a:ext uri="{FF2B5EF4-FFF2-40B4-BE49-F238E27FC236}">
                <a16:creationId xmlns:a16="http://schemas.microsoft.com/office/drawing/2014/main" id="{FA195262-0454-4A31-B2CB-FD8EA67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859750"/>
            <a:ext cx="8610600" cy="6143625"/>
          </a:xfrm>
          <a:prstGeom xmlns:a="http://schemas.openxmlformats.org/drawingml/2006/main" prst="roundRect">
            <a:avLst>
              <a:gd name="adj" fmla="val 124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tep3_title">
            <a:extLst xmlns:a="http://schemas.openxmlformats.org/drawingml/2006/main">
              <a:ext uri="{FF2B5EF4-FFF2-40B4-BE49-F238E27FC236}">
                <a16:creationId xmlns:a16="http://schemas.microsoft.com/office/drawing/2014/main" id="{6FE5CF95-0321-4991-A128-55D3A6F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5A98"/>
                </a:solidFill>
              </a:defRPr>
            </a:pPr>
            <a:r>
              <a:rPr sz="2175" b="1">
                <a:solidFill>
                  <a:srgbClr val="075A98"/>
                </a:solidFill>
              </a:rPr>
              <a:t>3  Certify</a:t>
            </a:r>
          </a:p>
        </p:txBody>
      </p:sp>
      <p:sp>
        <p:nvSpPr>
          <p:cNvPr id="101" name="step3_text">
            <a:extLst xmlns:a="http://schemas.openxmlformats.org/drawingml/2006/main">
              <a:ext uri="{FF2B5EF4-FFF2-40B4-BE49-F238E27FC236}">
                <a16:creationId xmlns:a16="http://schemas.microsoft.com/office/drawing/2014/main" id="{6BC9E9B6-E3AA-44C1-943E-681EC189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0"/>
            <a:ext cx="7715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E"/>
                </a:solidFill>
              </a:defRPr>
            </a:pPr>
            <a:r>
              <a:rPr sz="1650" b="0">
                <a:solidFill>
                  <a:srgbClr val="10243E"/>
                </a:solidFill>
              </a:rPr>
              <a:t>Fix recovered b, re-optimize continuous covariances, and validate the AP-power, participation-gate, SINR, PCRB, and rank constraints. Only certified designs contribute to reported statistics.</a:t>
            </a:r>
          </a:p>
        </p:txBody>
      </p:sp>
      <p:sp>
        <p:nvSpPr>
          <p:cNvPr id="102" name="steps_note">
            <a:extLst xmlns:a="http://schemas.openxmlformats.org/drawingml/2006/main">
              <a:ext uri="{FF2B5EF4-FFF2-40B4-BE49-F238E27FC236}">
                <a16:creationId xmlns:a16="http://schemas.microsoft.com/office/drawing/2014/main" id="{821D6F00-4004-4DED-BA3B-B4694F50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0"/>
            <a:ext cx="771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34A"/>
                </a:solidFill>
              </a:defRPr>
            </a:pPr>
            <a:r>
              <a:rPr sz="1500" b="1">
                <a:solidFill>
                  <a:srgbClr val="08734A"/>
                </a:solidFill>
              </a:rPr>
              <a:t>Recovery is not accepted merely because the relaxed problem is feasible.</a:t>
            </a:r>
          </a:p>
        </p:txBody>
      </p:sp>
      <p:sp>
        <p:nvSpPr>
          <p:cNvPr id="103" name="dual_dc_body">
            <a:extLst xmlns:a="http://schemas.openxmlformats.org/drawingml/2006/main">
              <a:ext uri="{FF2B5EF4-FFF2-40B4-BE49-F238E27FC236}">
                <a16:creationId xmlns:a16="http://schemas.microsoft.com/office/drawing/2014/main" id="{417DC285-066D-4120-803B-F1BCA48F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4525625"/>
            <a:ext cx="18735675" cy="13335000"/>
          </a:xfrm>
          <a:prstGeom xmlns:a="http://schemas.openxmlformats.org/drawingml/2006/main" prst="roundRect">
            <a:avLst>
              <a:gd name="adj" fmla="val 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AFCD"/>
            </a:solidFill>
            <a:prstDash val="solid"/>
          </a:ln>
        </p:spPr>
      </p:sp>
      <p:sp>
        <p:nvSpPr>
          <p:cNvPr id="104" name="dual_dc_head">
            <a:extLst xmlns:a="http://schemas.openxmlformats.org/drawingml/2006/main">
              <a:ext uri="{FF2B5EF4-FFF2-40B4-BE49-F238E27FC236}">
                <a16:creationId xmlns:a16="http://schemas.microsoft.com/office/drawing/2014/main" id="{435CDB5E-32D9-4808-A961-BC51A987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4525625"/>
            <a:ext cx="187356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C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ual_dc_heading">
            <a:extLst xmlns:a="http://schemas.openxmlformats.org/drawingml/2006/main">
              <a:ext uri="{FF2B5EF4-FFF2-40B4-BE49-F238E27FC236}">
                <a16:creationId xmlns:a16="http://schemas.microsoft.com/office/drawing/2014/main" id="{BB3202FE-9D55-45D4-A50D-8918696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4592300"/>
            <a:ext cx="18316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DUAL-DC ABLATION</a:t>
            </a:r>
          </a:p>
        </p:txBody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a3291119c42ff"/>
          <a:stretch xmlns:a="http://schemas.openxmlformats.org/drawingml/2006/main"/>
        </p:blipFill>
        <p:spPr>
          <a:xfrm xmlns:a="http://schemas.openxmlformats.org/drawingml/2006/main">
            <a:off x="11049000" y="17918867"/>
            <a:ext cx="18068925" cy="4443490"/>
          </a:xfrm>
          <a:prstGeom xmlns:a="http://schemas.openxmlformats.org/drawingml/2006/main" prst="rect">
            <a:avLst/>
          </a:prstGeom>
        </p:spPr>
      </p:pic>
      <p:sp>
        <p:nvSpPr>
          <p:cNvPr id="107" name="dual_dc_note">
            <a:extLst xmlns:a="http://schemas.openxmlformats.org/drawingml/2006/main">
              <a:ext uri="{FF2B5EF4-FFF2-40B4-BE49-F238E27FC236}">
                <a16:creationId xmlns:a16="http://schemas.microsoft.com/office/drawing/2014/main" id="{810AB9D2-4EEB-4C7D-8D1A-0656C111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5527000"/>
            <a:ext cx="1795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34A"/>
                </a:solidFill>
              </a:defRPr>
            </a:pPr>
            <a:r>
              <a:rPr sz="1575" b="1">
                <a:solidFill>
                  <a:srgbClr val="08734A"/>
                </a:solidFill>
              </a:rPr>
              <a:t>The coupled scheme reaches a median binary distance of 5.94×10⁻⁵; rank-only relaxation leaves the association fractional.</a:t>
            </a:r>
          </a:p>
        </p:txBody>
      </p:sp>
      <p:sp>
        <p:nvSpPr>
          <p:cNvPr id="108" name="robust_body">
            <a:extLst xmlns:a="http://schemas.openxmlformats.org/drawingml/2006/main">
              <a:ext uri="{FF2B5EF4-FFF2-40B4-BE49-F238E27FC236}">
                <a16:creationId xmlns:a16="http://schemas.microsoft.com/office/drawing/2014/main" id="{DBE90E9F-AD6E-43F9-81E3-38C554AF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0"/>
            <a:ext cx="13811250" cy="8429625"/>
          </a:xfrm>
          <a:prstGeom xmlns:a="http://schemas.openxmlformats.org/drawingml/2006/main" prst="roundRect">
            <a:avLst>
              <a:gd name="adj" fmla="val 9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AFCD"/>
            </a:solidFill>
            <a:prstDash val="solid"/>
          </a:ln>
        </p:spPr>
      </p:sp>
      <p:sp>
        <p:nvSpPr>
          <p:cNvPr id="109" name="robust_head">
            <a:extLst xmlns:a="http://schemas.openxmlformats.org/drawingml/2006/main">
              <a:ext uri="{FF2B5EF4-FFF2-40B4-BE49-F238E27FC236}">
                <a16:creationId xmlns:a16="http://schemas.microsoft.com/office/drawing/2014/main" id="{971DC59A-CF29-47DE-93E8-D255BF52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0"/>
            <a:ext cx="1381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C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robust_heading">
            <a:extLst xmlns:a="http://schemas.openxmlformats.org/drawingml/2006/main">
              <a:ext uri="{FF2B5EF4-FFF2-40B4-BE49-F238E27FC236}">
                <a16:creationId xmlns:a16="http://schemas.microsoft.com/office/drawing/2014/main" id="{147FDD64-34B1-4DB5-BE2B-F1A0BF7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51175"/>
            <a:ext cx="1339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ROBUST CSI PROTECTION</a:t>
            </a:r>
          </a:p>
        </p:txBody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566c0c000413c"/>
          <a:stretch xmlns:a="http://schemas.openxmlformats.org/drawingml/2006/main"/>
        </p:blipFill>
        <p:spPr>
          <a:xfrm xmlns:a="http://schemas.openxmlformats.org/drawingml/2006/main">
            <a:off x="1047750" y="30059665"/>
            <a:ext cx="13287375" cy="3936294"/>
          </a:xfrm>
          <a:prstGeom xmlns:a="http://schemas.openxmlformats.org/drawingml/2006/main" prst="rect">
            <a:avLst/>
          </a:prstGeom>
        </p:spPr>
      </p:pic>
      <p:sp>
        <p:nvSpPr>
          <p:cNvPr id="112" name="robust_note">
            <a:extLst xmlns:a="http://schemas.openxmlformats.org/drawingml/2006/main">
              <a:ext uri="{FF2B5EF4-FFF2-40B4-BE49-F238E27FC236}">
                <a16:creationId xmlns:a16="http://schemas.microsoft.com/office/drawing/2014/main" id="{3D52F55E-0FCA-40A1-833C-65C6812B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0"/>
            <a:ext cx="13001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34A"/>
                </a:solidFill>
              </a:defRPr>
            </a:pPr>
            <a:r>
              <a:rPr sz="1500" b="1">
                <a:solidFill>
                  <a:srgbClr val="08734A"/>
                </a:solidFill>
              </a:rPr>
              <a:t>Robust S-procedure design: 0 sampled outage. Nominal CSI: 89–92% mean outage under the same perturbations.</a:t>
            </a:r>
          </a:p>
        </p:txBody>
      </p:sp>
      <p:sp>
        <p:nvSpPr>
          <p:cNvPr id="113" name="comparison_body">
            <a:extLst xmlns:a="http://schemas.openxmlformats.org/drawingml/2006/main">
              <a:ext uri="{FF2B5EF4-FFF2-40B4-BE49-F238E27FC236}">
                <a16:creationId xmlns:a16="http://schemas.microsoft.com/office/drawing/2014/main" id="{C054E9DE-B3E6-4778-9874-2D20E8E5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8384500"/>
            <a:ext cx="13830300" cy="8429625"/>
          </a:xfrm>
          <a:prstGeom xmlns:a="http://schemas.openxmlformats.org/drawingml/2006/main" prst="roundRect">
            <a:avLst>
              <a:gd name="adj" fmla="val 9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AFCD"/>
            </a:solidFill>
            <a:prstDash val="solid"/>
          </a:ln>
        </p:spPr>
      </p:sp>
      <p:sp>
        <p:nvSpPr>
          <p:cNvPr id="114" name="comparison_head">
            <a:extLst xmlns:a="http://schemas.openxmlformats.org/drawingml/2006/main">
              <a:ext uri="{FF2B5EF4-FFF2-40B4-BE49-F238E27FC236}">
                <a16:creationId xmlns:a16="http://schemas.microsoft.com/office/drawing/2014/main" id="{2624009D-F403-4B88-A084-352B102C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8384500"/>
            <a:ext cx="13830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8C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comparison_heading">
            <a:extLst xmlns:a="http://schemas.openxmlformats.org/drawingml/2006/main">
              <a:ext uri="{FF2B5EF4-FFF2-40B4-BE49-F238E27FC236}">
                <a16:creationId xmlns:a16="http://schemas.microsoft.com/office/drawing/2014/main" id="{DE10C985-8759-4117-9D68-2343B7C5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28451175"/>
            <a:ext cx="1341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METHOD COMPARISON VERSUS N_req</a:t>
            </a:r>
          </a:p>
        </p:txBody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c2011f1bf4245"/>
          <a:stretch xmlns:a="http://schemas.openxmlformats.org/drawingml/2006/main"/>
        </p:blipFill>
        <p:spPr>
          <a:xfrm xmlns:a="http://schemas.openxmlformats.org/drawingml/2006/main">
            <a:off x="17386276" y="29003625"/>
            <a:ext cx="10299748" cy="6048375"/>
          </a:xfrm>
          <a:prstGeom xmlns:a="http://schemas.openxmlformats.org/drawingml/2006/main" prst="rect">
            <a:avLst/>
          </a:prstGeom>
        </p:spPr>
      </p:pic>
      <p:sp>
        <p:nvSpPr>
          <p:cNvPr id="117" name="comparison_note">
            <a:extLst xmlns:a="http://schemas.openxmlformats.org/drawingml/2006/main">
              <a:ext uri="{FF2B5EF4-FFF2-40B4-BE49-F238E27FC236}">
                <a16:creationId xmlns:a16="http://schemas.microsoft.com/office/drawing/2014/main" id="{AB3F3B01-E1C9-4485-8094-0801D5C3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35242500"/>
            <a:ext cx="1295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34A"/>
                </a:solidFill>
              </a:defRPr>
            </a:pPr>
            <a:r>
              <a:rPr sz="1500" b="1">
                <a:solidFill>
                  <a:srgbClr val="08734A"/>
                </a:solidFill>
              </a:rPr>
              <a:t>FIM-aware recovery retains physical feasibility where nearest-AP and random baselines can fail.</a:t>
            </a:r>
          </a:p>
        </p:txBody>
      </p:sp>
    </p:spTree>
    <p:extLst>
      <p:ext uri="{BB962C8B-B14F-4D97-AF65-F5344CB8AC3E}">
        <p14:creationId xmlns:p14="http://schemas.microsoft.com/office/powerpoint/2010/main" val="31520004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2026-07-28T13:44:29.1810000Z</dcterms:created>
  <dcterms:modified xsi:type="dcterms:W3CDTF">2026-07-28T13:44:29.1810000Z</dcterms:modified>
</coreProperties>
</file>