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a3c3ced8b54e55" /><Relationship Type="http://schemas.openxmlformats.org/officeDocument/2006/relationships/extended-properties" Target="/docProps/app.xml" Id="Rc2400a040c01431a" /><Relationship Type="http://schemas.openxmlformats.org/officeDocument/2006/relationships/officeDocument" Target="/ppt/presentation.xml" Id="R63b7fa6435924e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7a80c80d034285"/>
  </p:sldMasterIdLst>
  <p:notesMasterIdLst>
    <p:notesMasterId xmlns:r="http://schemas.openxmlformats.org/officeDocument/2006/relationships" r:id="R0af558ce61fe4bb2"/>
  </p:notesMasterIdLst>
  <p:sldIdLst>
    <p:sldId xmlns:r="http://schemas.openxmlformats.org/officeDocument/2006/relationships" id="256" r:id="Rcf340671823d4edf"/>
  </p:sldIdLst>
  <p:sldSz cx="43891200" cy="32918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fef7e1c7ee4731" /><Relationship Type="http://schemas.openxmlformats.org/officeDocument/2006/relationships/slideMaster" Target="/ppt/slideMasters/slideMaster1.xml" Id="R3e7a80c80d034285" /><Relationship Type="http://schemas.openxmlformats.org/officeDocument/2006/relationships/notesMaster" Target="/ppt/notesMasters/notesMaster1.xml" Id="R0af558ce61fe4bb2" /><Relationship Type="http://schemas.openxmlformats.org/officeDocument/2006/relationships/presProps" Target="/ppt/presProps.xml" Id="R01c1f51d5347463d" /><Relationship Type="http://schemas.openxmlformats.org/officeDocument/2006/relationships/tableStyles" Target="/ppt/tableStyles.xml" Id="R41aad4f7acc54ac8" /><Relationship Type="http://schemas.openxmlformats.org/officeDocument/2006/relationships/slide" Target="/ppt/slides/slide1.xml" Id="Rcf340671823d4e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597a0dee7043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cea1ba5b4c4dcb" /><Relationship Type="http://schemas.openxmlformats.org/officeDocument/2006/relationships/notesMaster" Target="/ppt/notesMasters/notesMaster1.xml" Id="R67cff9ac60b44d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graphics are derived from C:/Users/yxp02/ISAC-Research/math_derivation_tex_v10/math_derivation_en.pdf and its audited experiment package.</a:t>
            </a:r>
          </a:p>
          <a:p xmlns:a="http://schemas.openxmlformats.org/drawingml/2006/main">
            <a:r>
              <a:t>Figures: fig1_system_architecture, fig2_dual_dc_ablation, fig9_csi_robustness, fig10_method_comparison_vs_nreq, fig12_pressure_geometries, and fig12_m12_nreq_scalability.</a:t>
            </a:r>
          </a:p>
          <a:p xmlns:a="http://schemas.openxmlformats.org/drawingml/2006/main">
            <a:r>
              <a:t>No external image assets or unverified numerical claims are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02a74f28f948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1fd1ff99a24747" /><Relationship Type="http://schemas.openxmlformats.org/officeDocument/2006/relationships/slideLayout" Target="/ppt/slideLayouts/slideLayout1.xml" Id="R1b84345b354e4a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84345b354e4a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2a4f6d9344fd8" /><Relationship Type="http://schemas.openxmlformats.org/officeDocument/2006/relationships/image" Target="/ppt/media/image.png" Id="R694520ed315f4451" /><Relationship Type="http://schemas.openxmlformats.org/officeDocument/2006/relationships/image" Target="/ppt/media/image2.png" Id="R992c86c348eb4053" /><Relationship Type="http://schemas.openxmlformats.org/officeDocument/2006/relationships/image" Target="/ppt/media/image3.png" Id="R34fcc88723a54cd1" /><Relationship Type="http://schemas.openxmlformats.org/officeDocument/2006/relationships/image" Target="/ppt/media/image4.png" Id="Rc7792a0c9c694e63" /><Relationship Type="http://schemas.openxmlformats.org/officeDocument/2006/relationships/image" Target="/ppt/media/image5.png" Id="R59bc88bbe38e4579" /><Relationship Type="http://schemas.openxmlformats.org/officeDocument/2006/relationships/image" Target="/ppt/media/image6.png" Id="Refcebf9a19ff433c" /><Relationship Type="http://schemas.openxmlformats.org/officeDocument/2006/relationships/notesSlide" Target="/ppt/notesSlides/notesSlide1.xml" Id="R11d034bb11be46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header">
            <a:extLst xmlns:a="http://schemas.openxmlformats.org/drawingml/2006/main">
              <a:ext uri="{FF2B5EF4-FFF2-40B4-BE49-F238E27FC236}">
                <a16:creationId xmlns:a16="http://schemas.microsoft.com/office/drawing/2014/main" id="{DC635FA3-9F6D-45FE-8BD3-DB01132A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91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2995764F-D5EA-4759-A91B-3F88E531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3350"/>
            <a:ext cx="43891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3CE95C-514F-4F2D-A5B8-7CEDAEDF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66750"/>
            <a:ext cx="3762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975" b="1">
                <a:solidFill>
                  <a:srgbClr val="FFFFFF"/>
                </a:solidFill>
              </a:defRPr>
            </a:pPr>
            <a:r>
              <a:rPr sz="6975" b="1">
                <a:solidFill>
                  <a:srgbClr val="FFFFFF"/>
                </a:solidFill>
              </a:rPr>
              <a:t>Robust Beamforming for Participation-Constrained Cell-Free ISAC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97D71E0C-9B66-49D3-895B-9833EEC1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90750"/>
            <a:ext cx="3143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D9EBF7"/>
                </a:solidFill>
              </a:defRPr>
            </a:pPr>
            <a:r>
              <a:rPr sz="3150" b="0">
                <a:solidFill>
                  <a:srgbClr val="D9EBF7"/>
                </a:solidFill>
              </a:rPr>
              <a:t>Geometry-aware AP-target sensing authorization with globally cooperative communication</a:t>
            </a:r>
          </a:p>
        </p:txBody>
      </p:sp>
      <p:sp>
        <p:nvSpPr>
          <p:cNvPr id="5" name="tag">
            <a:extLst xmlns:a="http://schemas.openxmlformats.org/drawingml/2006/main">
              <a:ext uri="{FF2B5EF4-FFF2-40B4-BE49-F238E27FC236}">
                <a16:creationId xmlns:a16="http://schemas.microsoft.com/office/drawing/2014/main" id="{8B593F13-9870-4AE1-95AD-38E7AA9E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0" y="2305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80C8EE"/>
                </a:solidFill>
              </a:defRPr>
            </a:pPr>
            <a:r>
              <a:rPr sz="2250" b="1">
                <a:solidFill>
                  <a:srgbClr val="80C8EE"/>
                </a:solidFill>
              </a:rPr>
              <a:t>RESEARCH POSTER  |  CELL-FREE ISAC</a:t>
            </a:r>
          </a:p>
        </p:txBody>
      </p:sp>
      <p:sp>
        <p:nvSpPr>
          <p:cNvPr id="6" name="problem_band">
            <a:extLst xmlns:a="http://schemas.openxmlformats.org/drawingml/2006/main">
              <a:ext uri="{FF2B5EF4-FFF2-40B4-BE49-F238E27FC236}">
                <a16:creationId xmlns:a16="http://schemas.microsoft.com/office/drawing/2014/main" id="{2A849C99-9C0B-489A-81E1-9847CED6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1285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blem_label">
            <a:extLst xmlns:a="http://schemas.openxmlformats.org/drawingml/2006/main">
              <a:ext uri="{FF2B5EF4-FFF2-40B4-BE49-F238E27FC236}">
                <a16:creationId xmlns:a16="http://schemas.microsoft.com/office/drawing/2014/main" id="{497DA78E-7744-4116-8FBE-0B2DB713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38700"/>
            <a:ext cx="1238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1A0"/>
                </a:solidFill>
              </a:defRPr>
            </a:pPr>
            <a:r>
              <a:rPr sz="2250" b="1">
                <a:solidFill>
                  <a:srgbClr val="1261A0"/>
                </a:solidFill>
              </a:rPr>
              <a:t>WHY THIS MATTERS</a:t>
            </a:r>
          </a:p>
        </p:txBody>
      </p:sp>
      <p:sp>
        <p:nvSpPr>
          <p:cNvPr id="8" name="method_band">
            <a:extLst xmlns:a="http://schemas.openxmlformats.org/drawingml/2006/main">
              <a:ext uri="{FF2B5EF4-FFF2-40B4-BE49-F238E27FC236}">
                <a16:creationId xmlns:a16="http://schemas.microsoft.com/office/drawing/2014/main" id="{C49B2882-A37A-41B3-BCDD-E4AAD6E9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4762500"/>
            <a:ext cx="1304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hod_label">
            <a:extLst xmlns:a="http://schemas.openxmlformats.org/drawingml/2006/main">
              <a:ext uri="{FF2B5EF4-FFF2-40B4-BE49-F238E27FC236}">
                <a16:creationId xmlns:a16="http://schemas.microsoft.com/office/drawing/2014/main" id="{B86F24B8-2077-492F-BD6D-4D2EBAC0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25" y="4838700"/>
            <a:ext cx="1257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1A0"/>
                </a:solidFill>
              </a:defRPr>
            </a:pPr>
            <a:r>
              <a:rPr sz="2250" b="1">
                <a:solidFill>
                  <a:srgbClr val="1261A0"/>
                </a:solidFill>
              </a:rPr>
              <a:t>PROPOSED DESIGN</a:t>
            </a:r>
          </a:p>
        </p:txBody>
      </p:sp>
      <p:sp>
        <p:nvSpPr>
          <p:cNvPr id="10" name="evidence_band">
            <a:extLst xmlns:a="http://schemas.openxmlformats.org/drawingml/2006/main">
              <a:ext uri="{FF2B5EF4-FFF2-40B4-BE49-F238E27FC236}">
                <a16:creationId xmlns:a16="http://schemas.microsoft.com/office/drawing/2014/main" id="{F1440F6A-F01A-4626-ABEA-E5CE03DE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0" y="4762500"/>
            <a:ext cx="1295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vidence_label">
            <a:extLst xmlns:a="http://schemas.openxmlformats.org/drawingml/2006/main">
              <a:ext uri="{FF2B5EF4-FFF2-40B4-BE49-F238E27FC236}">
                <a16:creationId xmlns:a16="http://schemas.microsoft.com/office/drawing/2014/main" id="{7E420DF0-76B6-48E4-A405-A044FFF9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60875" y="4838700"/>
            <a:ext cx="1247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1A0"/>
                </a:solidFill>
              </a:defRPr>
            </a:pPr>
            <a:r>
              <a:rPr sz="2250" b="1">
                <a:solidFill>
                  <a:srgbClr val="1261A0"/>
                </a:solidFill>
              </a:rPr>
              <a:t>EVIDENCE</a:t>
            </a:r>
          </a:p>
        </p:txBody>
      </p:sp>
      <p:sp>
        <p:nvSpPr>
          <p:cNvPr id="12" name="problem_head">
            <a:extLst xmlns:a="http://schemas.openxmlformats.org/drawingml/2006/main">
              <a:ext uri="{FF2B5EF4-FFF2-40B4-BE49-F238E27FC236}">
                <a16:creationId xmlns:a16="http://schemas.microsoft.com/office/drawing/2014/main" id="{10293F83-BDFA-45D3-B81A-AF2939A7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10250"/>
            <a:ext cx="12858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0243E"/>
                </a:solidFill>
              </a:defRPr>
            </a:pPr>
            <a:r>
              <a:rPr sz="3975" b="1">
                <a:solidFill>
                  <a:srgbClr val="10243E"/>
                </a:solidFill>
              </a:rPr>
              <a:t>Sensing clusters should be sparse,</a:t>
            </a:r>
          </a:p>
          <a:p xmlns:a="http://schemas.openxmlformats.org/drawingml/2006/main">
            <a:pPr algn="l">
              <a:defRPr sz="3975" b="1">
                <a:solidFill>
                  <a:srgbClr val="10243E"/>
                </a:solidFill>
              </a:defRPr>
            </a:pPr>
            <a:r>
              <a:rPr sz="3975" b="1">
                <a:solidFill>
                  <a:srgbClr val="10243E"/>
                </a:solidFill>
              </a:rPr>
              <a:t>but communication should remain global.</a:t>
            </a:r>
          </a:p>
        </p:txBody>
      </p:sp>
      <p:sp>
        <p:nvSpPr>
          <p:cNvPr id="13" name="p1_dot">
            <a:extLst xmlns:a="http://schemas.openxmlformats.org/drawingml/2006/main">
              <a:ext uri="{FF2B5EF4-FFF2-40B4-BE49-F238E27FC236}">
                <a16:creationId xmlns:a16="http://schemas.microsoft.com/office/drawing/2014/main" id="{4ED1D50D-5A29-496E-9BDD-DCC900C9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543800"/>
            <a:ext cx="34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61A0"/>
                </a:solidFill>
              </a:defRPr>
            </a:pPr>
            <a:r>
              <a:rPr sz="2550" b="1">
                <a:solidFill>
                  <a:srgbClr val="1261A0"/>
                </a:solidFill>
              </a:rPr>
              <a:t>•</a:t>
            </a:r>
          </a:p>
        </p:txBody>
      </p:sp>
      <p:sp>
        <p:nvSpPr>
          <p:cNvPr id="14" name="p1_text">
            <a:extLst xmlns:a="http://schemas.openxmlformats.org/drawingml/2006/main">
              <a:ext uri="{FF2B5EF4-FFF2-40B4-BE49-F238E27FC236}">
                <a16:creationId xmlns:a16="http://schemas.microsoft.com/office/drawing/2014/main" id="{33245CCB-FD49-418C-B765-0D76A044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572375"/>
            <a:ext cx="12458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243E"/>
                </a:solidFill>
              </a:defRPr>
            </a:pPr>
            <a:r>
              <a:rPr sz="2175" b="0">
                <a:solidFill>
                  <a:srgbClr val="10243E"/>
                </a:solidFill>
              </a:rPr>
              <a:t>Each target needs exactly Nreq authorized APs for its dedicated sensing waveform.</a:t>
            </a:r>
          </a:p>
        </p:txBody>
      </p:sp>
      <p:sp>
        <p:nvSpPr>
          <p:cNvPr id="15" name="p2_dot">
            <a:extLst xmlns:a="http://schemas.openxmlformats.org/drawingml/2006/main">
              <a:ext uri="{FF2B5EF4-FFF2-40B4-BE49-F238E27FC236}">
                <a16:creationId xmlns:a16="http://schemas.microsoft.com/office/drawing/2014/main" id="{DB06A404-B4C9-4DD3-863C-4034555F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639175"/>
            <a:ext cx="34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61A0"/>
                </a:solidFill>
              </a:defRPr>
            </a:pPr>
            <a:r>
              <a:rPr sz="2550" b="1">
                <a:solidFill>
                  <a:srgbClr val="1261A0"/>
                </a:solidFill>
              </a:rPr>
              <a:t>•</a:t>
            </a:r>
          </a:p>
        </p:txBody>
      </p:sp>
      <p:sp>
        <p:nvSpPr>
          <p:cNvPr id="16" name="p2_text">
            <a:extLst xmlns:a="http://schemas.openxmlformats.org/drawingml/2006/main">
              <a:ext uri="{FF2B5EF4-FFF2-40B4-BE49-F238E27FC236}">
                <a16:creationId xmlns:a16="http://schemas.microsoft.com/office/drawing/2014/main" id="{2C69537F-38EC-43F5-9A06-20C411BC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8667750"/>
            <a:ext cx="12458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243E"/>
                </a:solidFill>
              </a:defRPr>
            </a:pPr>
            <a:r>
              <a:rPr sz="2175" b="0">
                <a:solidFill>
                  <a:srgbClr val="10243E"/>
                </a:solidFill>
              </a:rPr>
              <a:t>A poor AP-target geometry can make PCRB tracking infeasible or power-hungry.</a:t>
            </a:r>
          </a:p>
        </p:txBody>
      </p:sp>
      <p:sp>
        <p:nvSpPr>
          <p:cNvPr id="17" name="p3_dot">
            <a:extLst xmlns:a="http://schemas.openxmlformats.org/drawingml/2006/main">
              <a:ext uri="{FF2B5EF4-FFF2-40B4-BE49-F238E27FC236}">
                <a16:creationId xmlns:a16="http://schemas.microsoft.com/office/drawing/2014/main" id="{3A8B7B00-3D80-4D34-9C4A-2B109A12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34550"/>
            <a:ext cx="34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61A0"/>
                </a:solidFill>
              </a:defRPr>
            </a:pPr>
            <a:r>
              <a:rPr sz="2550" b="1">
                <a:solidFill>
                  <a:srgbClr val="1261A0"/>
                </a:solidFill>
              </a:rPr>
              <a:t>•</a:t>
            </a:r>
          </a:p>
        </p:txBody>
      </p:sp>
      <p:sp>
        <p:nvSpPr>
          <p:cNvPr id="18" name="p3_text">
            <a:extLst xmlns:a="http://schemas.openxmlformats.org/drawingml/2006/main">
              <a:ext uri="{FF2B5EF4-FFF2-40B4-BE49-F238E27FC236}">
                <a16:creationId xmlns:a16="http://schemas.microsoft.com/office/drawing/2014/main" id="{8EA79471-FA53-4133-AEF3-5E4F0536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9763125"/>
            <a:ext cx="12458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243E"/>
                </a:solidFill>
              </a:defRPr>
            </a:pPr>
            <a:r>
              <a:rPr sz="2175" b="0">
                <a:solidFill>
                  <a:srgbClr val="10243E"/>
                </a:solidFill>
              </a:rPr>
              <a:t>Communication beams are globally cooperative; only dedicated sensing waveforms are gated.</a:t>
            </a:r>
          </a:p>
        </p:txBody>
      </p:sp>
      <p:sp>
        <p:nvSpPr>
          <p:cNvPr id="19" name="architecture_frame">
            <a:extLst xmlns:a="http://schemas.openxmlformats.org/drawingml/2006/main">
              <a:ext uri="{FF2B5EF4-FFF2-40B4-BE49-F238E27FC236}">
                <a16:creationId xmlns:a16="http://schemas.microsoft.com/office/drawing/2014/main" id="{EDADD6F1-5B70-4A88-AAD3-75311DE2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1049000"/>
            <a:ext cx="12858750" cy="742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6D0DA"/>
            </a:solidFill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520ed315f4451"/>
          <a:stretch xmlns:a="http://schemas.openxmlformats.org/drawingml/2006/main"/>
        </p:blipFill>
        <p:spPr>
          <a:xfrm xmlns:a="http://schemas.openxmlformats.org/drawingml/2006/main">
            <a:off x="1639314" y="11277600"/>
            <a:ext cx="12056623" cy="6953250"/>
          </a:xfrm>
          <a:prstGeom xmlns:a="http://schemas.openxmlformats.org/drawingml/2006/main" prst="rect">
            <a:avLst/>
          </a:prstGeom>
        </p:spPr>
      </p:pic>
      <p:sp>
        <p:nvSpPr>
          <p:cNvPr id="21" name="architecture_cap">
            <a:extLst xmlns:a="http://schemas.openxmlformats.org/drawingml/2006/main">
              <a:ext uri="{FF2B5EF4-FFF2-40B4-BE49-F238E27FC236}">
                <a16:creationId xmlns:a16="http://schemas.microsoft.com/office/drawing/2014/main" id="{48B6CB67-6AD4-4F69-807D-E539BA1C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621375"/>
            <a:ext cx="1285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568"/>
                </a:solidFill>
              </a:defRPr>
            </a:pPr>
            <a:r>
              <a:rPr sz="1950" b="0">
                <a:solidFill>
                  <a:srgbClr val="4A5568"/>
                </a:solidFill>
              </a:rPr>
              <a:t>b_mp authorizes AP m to transmit the target-p dedicated sensing waveform; communication remains globally cooperative.</a:t>
            </a:r>
          </a:p>
        </p:txBody>
      </p:sp>
      <p:sp>
        <p:nvSpPr>
          <p:cNvPr id="22" name="method_head">
            <a:extLst xmlns:a="http://schemas.openxmlformats.org/drawingml/2006/main">
              <a:ext uri="{FF2B5EF4-FFF2-40B4-BE49-F238E27FC236}">
                <a16:creationId xmlns:a16="http://schemas.microsoft.com/office/drawing/2014/main" id="{A2BFDB9D-6EAC-4992-87DF-C79B431E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810250"/>
            <a:ext cx="13049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0243E"/>
                </a:solidFill>
              </a:defRPr>
            </a:pPr>
            <a:r>
              <a:rPr sz="3975" b="1">
                <a:solidFill>
                  <a:srgbClr val="10243E"/>
                </a:solidFill>
              </a:rPr>
              <a:t>Jointly optimize</a:t>
            </a:r>
          </a:p>
          <a:p xmlns:a="http://schemas.openxmlformats.org/drawingml/2006/main">
            <a:pPr algn="l">
              <a:defRPr sz="3975" b="1">
                <a:solidFill>
                  <a:srgbClr val="10243E"/>
                </a:solidFill>
              </a:defRPr>
            </a:pPr>
            <a:r>
              <a:rPr sz="3975" b="1">
                <a:solidFill>
                  <a:srgbClr val="10243E"/>
                </a:solidFill>
              </a:rPr>
              <a:t>association and robust covariances</a:t>
            </a:r>
          </a:p>
        </p:txBody>
      </p:sp>
      <p:sp>
        <p:nvSpPr>
          <p:cNvPr id="23" name="formula">
            <a:extLst xmlns:a="http://schemas.openxmlformats.org/drawingml/2006/main">
              <a:ext uri="{FF2B5EF4-FFF2-40B4-BE49-F238E27FC236}">
                <a16:creationId xmlns:a16="http://schemas.microsoft.com/office/drawing/2014/main" id="{C8F46830-0726-40D0-AE23-241BFC77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7353300"/>
            <a:ext cx="1276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261A0"/>
                </a:solidFill>
              </a:defRPr>
            </a:pPr>
            <a:r>
              <a:rPr sz="2700" b="1">
                <a:solidFill>
                  <a:srgbClr val="1261A0"/>
                </a:solidFill>
              </a:rPr>
              <a:t>R_X = sum_k W_k + sum_p S_p</a:t>
            </a:r>
          </a:p>
        </p:txBody>
      </p:sp>
      <p:sp>
        <p:nvSpPr>
          <p:cNvPr id="24" name="steps_frame">
            <a:extLst xmlns:a="http://schemas.openxmlformats.org/drawingml/2006/main">
              <a:ext uri="{FF2B5EF4-FFF2-40B4-BE49-F238E27FC236}">
                <a16:creationId xmlns:a16="http://schemas.microsoft.com/office/drawing/2014/main" id="{30CE1DA6-8B42-4300-A86C-A50A29A9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8096250"/>
            <a:ext cx="13049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</p:sp>
      <p:sp>
        <p:nvSpPr>
          <p:cNvPr id="25" name="step1">
            <a:extLst xmlns:a="http://schemas.openxmlformats.org/drawingml/2006/main">
              <a:ext uri="{FF2B5EF4-FFF2-40B4-BE49-F238E27FC236}">
                <a16:creationId xmlns:a16="http://schemas.microsoft.com/office/drawing/2014/main" id="{3216B6B9-5AF4-41AC-AED2-B7BE96A2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3375" y="84010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261A0"/>
                </a:solidFill>
              </a:defRPr>
            </a:pPr>
            <a:r>
              <a:rPr sz="2475" b="1">
                <a:solidFill>
                  <a:srgbClr val="1261A0"/>
                </a:solidFill>
              </a:rPr>
              <a:t>1  Relax</a:t>
            </a:r>
          </a:p>
        </p:txBody>
      </p:sp>
      <p:sp>
        <p:nvSpPr>
          <p:cNvPr id="26" name="step1b">
            <a:extLst xmlns:a="http://schemas.openxmlformats.org/drawingml/2006/main">
              <a:ext uri="{FF2B5EF4-FFF2-40B4-BE49-F238E27FC236}">
                <a16:creationId xmlns:a16="http://schemas.microsoft.com/office/drawing/2014/main" id="{1BF76004-CC61-493C-B745-BB59DA99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3375" y="8905875"/>
            <a:ext cx="1238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43E"/>
                </a:solidFill>
              </a:defRPr>
            </a:pPr>
            <a:r>
              <a:rPr sz="2025" b="0">
                <a:solidFill>
                  <a:srgbClr val="10243E"/>
                </a:solidFill>
              </a:rPr>
              <a:t>Solve the robust SDR with AP power, PCRB and SINR constraints.</a:t>
            </a:r>
          </a:p>
        </p:txBody>
      </p:sp>
      <p:sp>
        <p:nvSpPr>
          <p:cNvPr id="27" name="step2">
            <a:extLst xmlns:a="http://schemas.openxmlformats.org/drawingml/2006/main">
              <a:ext uri="{FF2B5EF4-FFF2-40B4-BE49-F238E27FC236}">
                <a16:creationId xmlns:a16="http://schemas.microsoft.com/office/drawing/2014/main" id="{3067E516-1B43-4843-ACA7-C2F8A1A6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3375" y="98583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261A0"/>
                </a:solidFill>
              </a:defRPr>
            </a:pPr>
            <a:r>
              <a:rPr sz="2475" b="1">
                <a:solidFill>
                  <a:srgbClr val="1261A0"/>
                </a:solidFill>
              </a:rPr>
              <a:t>2  Recover</a:t>
            </a:r>
          </a:p>
        </p:txBody>
      </p:sp>
      <p:sp>
        <p:nvSpPr>
          <p:cNvPr id="28" name="step2b">
            <a:extLst xmlns:a="http://schemas.openxmlformats.org/drawingml/2006/main">
              <a:ext uri="{FF2B5EF4-FFF2-40B4-BE49-F238E27FC236}">
                <a16:creationId xmlns:a16="http://schemas.microsoft.com/office/drawing/2014/main" id="{11B3864A-951C-456B-899F-2C26D447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3375" y="10363200"/>
            <a:ext cx="1238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43E"/>
                </a:solidFill>
              </a:defRPr>
            </a:pPr>
            <a:r>
              <a:rPr sz="2025" b="0">
                <a:solidFill>
                  <a:srgbClr val="10243E"/>
                </a:solidFill>
              </a:rPr>
              <a:t>Use rank and binary DC penalties, then recover an integer association.</a:t>
            </a:r>
          </a:p>
        </p:txBody>
      </p:sp>
      <p:sp>
        <p:nvSpPr>
          <p:cNvPr id="29" name="step3">
            <a:extLst xmlns:a="http://schemas.openxmlformats.org/drawingml/2006/main">
              <a:ext uri="{FF2B5EF4-FFF2-40B4-BE49-F238E27FC236}">
                <a16:creationId xmlns:a16="http://schemas.microsoft.com/office/drawing/2014/main" id="{85510C43-1475-4FAD-AED4-DA7BF711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3375" y="112871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261A0"/>
                </a:solidFill>
              </a:defRPr>
            </a:pPr>
            <a:r>
              <a:rPr sz="2475" b="1">
                <a:solidFill>
                  <a:srgbClr val="1261A0"/>
                </a:solidFill>
              </a:rPr>
              <a:t>3  Certify</a:t>
            </a:r>
          </a:p>
        </p:txBody>
      </p:sp>
      <p:sp>
        <p:nvSpPr>
          <p:cNvPr id="30" name="step3b">
            <a:extLst xmlns:a="http://schemas.openxmlformats.org/drawingml/2006/main">
              <a:ext uri="{FF2B5EF4-FFF2-40B4-BE49-F238E27FC236}">
                <a16:creationId xmlns:a16="http://schemas.microsoft.com/office/drawing/2014/main" id="{402B2B84-F60E-4917-B817-12F8ADDD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3375" y="11791950"/>
            <a:ext cx="1238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43E"/>
                </a:solidFill>
              </a:defRPr>
            </a:pPr>
            <a:r>
              <a:rPr sz="2025" b="0">
                <a:solidFill>
                  <a:srgbClr val="10243E"/>
                </a:solidFill>
              </a:rPr>
              <a:t>Re-optimize with fixed b and accept only physically validated solutions.</a:t>
            </a:r>
          </a:p>
        </p:txBody>
      </p:sp>
      <p:sp>
        <p:nvSpPr>
          <p:cNvPr id="31" name="dc_frame">
            <a:extLst xmlns:a="http://schemas.openxmlformats.org/drawingml/2006/main">
              <a:ext uri="{FF2B5EF4-FFF2-40B4-BE49-F238E27FC236}">
                <a16:creationId xmlns:a16="http://schemas.microsoft.com/office/drawing/2014/main" id="{B8F77EB6-D0FB-4F2A-A91A-D0523456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12192000"/>
            <a:ext cx="13049250" cy="666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6D0DA"/>
            </a:solidFill>
            <a:prstDash val="solid"/>
          </a:ln>
        </p:spPr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c86c348eb4053"/>
          <a:stretch xmlns:a="http://schemas.openxmlformats.org/drawingml/2006/main"/>
        </p:blipFill>
        <p:spPr>
          <a:xfrm xmlns:a="http://schemas.openxmlformats.org/drawingml/2006/main">
            <a:off x="15430500" y="13777569"/>
            <a:ext cx="12668250" cy="3115362"/>
          </a:xfrm>
          <a:prstGeom xmlns:a="http://schemas.openxmlformats.org/drawingml/2006/main" prst="rect">
            <a:avLst/>
          </a:prstGeom>
        </p:spPr>
      </p:pic>
      <p:sp>
        <p:nvSpPr>
          <p:cNvPr id="33" name="dc_takeaway">
            <a:extLst xmlns:a="http://schemas.openxmlformats.org/drawingml/2006/main">
              <a:ext uri="{FF2B5EF4-FFF2-40B4-BE49-F238E27FC236}">
                <a16:creationId xmlns:a16="http://schemas.microsoft.com/office/drawing/2014/main" id="{7592AEBD-15E5-4F75-BD3B-A6AA6E99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18335625"/>
            <a:ext cx="1285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825C"/>
                </a:solidFill>
              </a:defRPr>
            </a:pPr>
            <a:r>
              <a:rPr sz="2025" b="1">
                <a:solidFill>
                  <a:srgbClr val="18825C"/>
                </a:solidFill>
              </a:rPr>
              <a:t>Dual DC reduces the median binary distance to 5.94e-5; rank-only relaxation stays near 0.43.</a:t>
            </a:r>
          </a:p>
        </p:txBody>
      </p:sp>
      <p:sp>
        <p:nvSpPr>
          <p:cNvPr id="34" name="evidence_head">
            <a:extLst xmlns:a="http://schemas.openxmlformats.org/drawingml/2006/main">
              <a:ext uri="{FF2B5EF4-FFF2-40B4-BE49-F238E27FC236}">
                <a16:creationId xmlns:a16="http://schemas.microsoft.com/office/drawing/2014/main" id="{6E2A7AFB-A01F-4F75-8505-C2949185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0" y="5810250"/>
            <a:ext cx="1295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43E"/>
                </a:solidFill>
              </a:defRPr>
            </a:pPr>
            <a:r>
              <a:rPr sz="3750" b="1">
                <a:solidFill>
                  <a:srgbClr val="10243E"/>
                </a:solidFill>
              </a:rPr>
              <a:t>Geometry-aware recovery delivers</a:t>
            </a:r>
          </a:p>
          <a:p xmlns:a="http://schemas.openxmlformats.org/drawingml/2006/main">
            <a:pPr algn="l">
              <a:defRPr sz="3750" b="1">
                <a:solidFill>
                  <a:srgbClr val="10243E"/>
                </a:solidFill>
              </a:defRPr>
            </a:pPr>
            <a:r>
              <a:rPr sz="3750" b="1">
                <a:solidFill>
                  <a:srgbClr val="10243E"/>
                </a:solidFill>
              </a:rPr>
              <a:t>feasibility and energy efficiency</a:t>
            </a:r>
          </a:p>
        </p:txBody>
      </p:sp>
      <p:sp>
        <p:nvSpPr>
          <p:cNvPr id="35" name="method_frame">
            <a:extLst xmlns:a="http://schemas.openxmlformats.org/drawingml/2006/main">
              <a:ext uri="{FF2B5EF4-FFF2-40B4-BE49-F238E27FC236}">
                <a16:creationId xmlns:a16="http://schemas.microsoft.com/office/drawing/2014/main" id="{2E0239E0-1A08-4BEB-AE9D-F2902F0A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0" y="7334250"/>
            <a:ext cx="1295400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6D0DA"/>
            </a:solidFill>
            <a:prstDash val="solid"/>
          </a:ln>
        </p:spPr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cc88723a54cd1"/>
          <a:stretch xmlns:a="http://schemas.openxmlformats.org/drawingml/2006/main"/>
        </p:blipFill>
        <p:spPr>
          <a:xfrm xmlns:a="http://schemas.openxmlformats.org/drawingml/2006/main">
            <a:off x="31679779" y="7524750"/>
            <a:ext cx="8839941" cy="5191125"/>
          </a:xfrm>
          <a:prstGeom xmlns:a="http://schemas.openxmlformats.org/drawingml/2006/main" prst="rect">
            <a:avLst/>
          </a:prstGeom>
        </p:spPr>
      </p:pic>
      <p:sp>
        <p:nvSpPr>
          <p:cNvPr id="37" name="method_takeaway">
            <a:extLst xmlns:a="http://schemas.openxmlformats.org/drawingml/2006/main">
              <a:ext uri="{FF2B5EF4-FFF2-40B4-BE49-F238E27FC236}">
                <a16:creationId xmlns:a16="http://schemas.microsoft.com/office/drawing/2014/main" id="{B65DFC17-0EBB-4A25-9944-99709144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0" y="13373100"/>
            <a:ext cx="1295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825C"/>
                </a:solidFill>
              </a:defRPr>
            </a:pPr>
            <a:r>
              <a:rPr sz="2025" b="1">
                <a:solidFill>
                  <a:srgbClr val="18825C"/>
                </a:solidFill>
              </a:rPr>
              <a:t>M=9 study: proposed recovery is physically feasible for every tested Nreq; random and nearest-AP baselines lose feasibility in challenging regimes.</a:t>
            </a:r>
          </a:p>
        </p:txBody>
      </p:sp>
      <p:sp>
        <p:nvSpPr>
          <p:cNvPr id="38" name="m12_frame">
            <a:extLst xmlns:a="http://schemas.openxmlformats.org/drawingml/2006/main">
              <a:ext uri="{FF2B5EF4-FFF2-40B4-BE49-F238E27FC236}">
                <a16:creationId xmlns:a16="http://schemas.microsoft.com/office/drawing/2014/main" id="{85A60CDA-9F60-4A46-97CD-CA9D7ABB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0" y="14620875"/>
            <a:ext cx="129540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6D0DA"/>
            </a:solidFill>
            <a:prstDash val="solid"/>
          </a:ln>
        </p:spPr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92a0c9c694e63"/>
          <a:stretch xmlns:a="http://schemas.openxmlformats.org/drawingml/2006/main"/>
        </p:blipFill>
        <p:spPr>
          <a:xfrm xmlns:a="http://schemas.openxmlformats.org/drawingml/2006/main">
            <a:off x="29765625" y="15542420"/>
            <a:ext cx="12668250" cy="2919411"/>
          </a:xfrm>
          <a:prstGeom xmlns:a="http://schemas.openxmlformats.org/drawingml/2006/main" prst="rect">
            <a:avLst/>
          </a:prstGeom>
        </p:spPr>
      </p:pic>
      <p:sp>
        <p:nvSpPr>
          <p:cNvPr id="40" name="m12_takeaway">
            <a:extLst xmlns:a="http://schemas.openxmlformats.org/drawingml/2006/main">
              <a:ext uri="{FF2B5EF4-FFF2-40B4-BE49-F238E27FC236}">
                <a16:creationId xmlns:a16="http://schemas.microsoft.com/office/drawing/2014/main" id="{06462B74-DC9D-484B-AB3A-976A74A8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0" y="19335750"/>
            <a:ext cx="1295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825C"/>
                </a:solidFill>
              </a:defRPr>
            </a:pPr>
            <a:r>
              <a:rPr sz="2025" b="1">
                <a:solidFill>
                  <a:srgbClr val="18825C"/>
                </a:solidFill>
              </a:rPr>
              <a:t>M=12 study: lowest observed conditional mean power is 35.72 mW at Nreq=4; PCRB remains tight.</a:t>
            </a:r>
          </a:p>
        </p:txBody>
      </p:sp>
      <p:sp>
        <p:nvSpPr>
          <p:cNvPr id="41" name="lower_bg">
            <a:extLst xmlns:a="http://schemas.openxmlformats.org/drawingml/2006/main">
              <a:ext uri="{FF2B5EF4-FFF2-40B4-BE49-F238E27FC236}">
                <a16:creationId xmlns:a16="http://schemas.microsoft.com/office/drawing/2014/main" id="{B3381D2B-D113-4248-9893-3E1240FE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812125"/>
            <a:ext cx="42176700" cy="876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D7E1EA"/>
            </a:solidFill>
            <a:prstDash val="solid"/>
          </a:ln>
        </p:spPr>
      </p:sp>
      <p:sp>
        <p:nvSpPr>
          <p:cNvPr id="42" name="results_title">
            <a:extLst xmlns:a="http://schemas.openxmlformats.org/drawingml/2006/main">
              <a:ext uri="{FF2B5EF4-FFF2-40B4-BE49-F238E27FC236}">
                <a16:creationId xmlns:a16="http://schemas.microsoft.com/office/drawing/2014/main" id="{EA80CDAF-CBDB-43E8-8FBC-54CA473D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097875"/>
            <a:ext cx="1238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261A0"/>
                </a:solidFill>
              </a:defRPr>
            </a:pPr>
            <a:r>
              <a:rPr sz="2475" b="1">
                <a:solidFill>
                  <a:srgbClr val="1261A0"/>
                </a:solidFill>
              </a:rPr>
              <a:t>ROBUSTNESS AND SCALABILITY</a:t>
            </a:r>
          </a:p>
        </p:txBody>
      </p:sp>
      <p:sp>
        <p:nvSpPr>
          <p:cNvPr id="43" name="csi_frame">
            <a:extLst xmlns:a="http://schemas.openxmlformats.org/drawingml/2006/main">
              <a:ext uri="{FF2B5EF4-FFF2-40B4-BE49-F238E27FC236}">
                <a16:creationId xmlns:a16="http://schemas.microsoft.com/office/drawing/2014/main" id="{47965A3A-3E93-4D49-B385-8D33E1B3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764625"/>
            <a:ext cx="13144500" cy="657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6D0DA"/>
            </a:solidFill>
            <a:prstDash val="solid"/>
          </a:ln>
        </p:spPr>
      </p:sp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c88bbe38e4579"/>
          <a:stretch xmlns:a="http://schemas.openxmlformats.org/drawingml/2006/main"/>
        </p:blipFill>
        <p:spPr>
          <a:xfrm xmlns:a="http://schemas.openxmlformats.org/drawingml/2006/main">
            <a:off x="1543050" y="22784843"/>
            <a:ext cx="12725400" cy="3769813"/>
          </a:xfrm>
          <a:prstGeom xmlns:a="http://schemas.openxmlformats.org/drawingml/2006/main" prst="rect">
            <a:avLst/>
          </a:prstGeom>
        </p:spPr>
      </p:pic>
      <p:sp>
        <p:nvSpPr>
          <p:cNvPr id="45" name="csi_text">
            <a:extLst xmlns:a="http://schemas.openxmlformats.org/drawingml/2006/main">
              <a:ext uri="{FF2B5EF4-FFF2-40B4-BE49-F238E27FC236}">
                <a16:creationId xmlns:a16="http://schemas.microsoft.com/office/drawing/2014/main" id="{E36D050B-95E4-4751-9DD3-C0C6B2B0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479625"/>
            <a:ext cx="1257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825C"/>
                </a:solidFill>
              </a:defRPr>
            </a:pPr>
            <a:r>
              <a:rPr sz="2025" b="1">
                <a:solidFill>
                  <a:srgbClr val="18825C"/>
                </a:solidFill>
              </a:rPr>
              <a:t>Robust design: zero sampled outage. Nominal CSI design: 89-92% mean outage under tested perturbations.</a:t>
            </a:r>
          </a:p>
        </p:txBody>
      </p:sp>
      <p:sp>
        <p:nvSpPr>
          <p:cNvPr id="46" name="physical_frame">
            <a:extLst xmlns:a="http://schemas.openxmlformats.org/drawingml/2006/main">
              <a:ext uri="{FF2B5EF4-FFF2-40B4-BE49-F238E27FC236}">
                <a16:creationId xmlns:a16="http://schemas.microsoft.com/office/drawing/2014/main" id="{3564E765-6FD5-4B8F-A0F9-6D7B5FEC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3875" y="21764625"/>
            <a:ext cx="13239750" cy="657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6D0DA"/>
            </a:solidFill>
            <a:prstDash val="solid"/>
          </a:ln>
        </p:spPr>
      </p:sp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ebf9a19ff433c"/>
          <a:stretch xmlns:a="http://schemas.openxmlformats.org/drawingml/2006/main"/>
        </p:blipFill>
        <p:spPr>
          <a:xfrm xmlns:a="http://schemas.openxmlformats.org/drawingml/2006/main">
            <a:off x="15954375" y="22145221"/>
            <a:ext cx="12858750" cy="5049057"/>
          </a:xfrm>
          <a:prstGeom xmlns:a="http://schemas.openxmlformats.org/drawingml/2006/main" prst="rect">
            <a:avLst/>
          </a:prstGeom>
        </p:spPr>
      </p:pic>
      <p:sp>
        <p:nvSpPr>
          <p:cNvPr id="48" name="physical_text">
            <a:extLst xmlns:a="http://schemas.openxmlformats.org/drawingml/2006/main">
              <a:ext uri="{FF2B5EF4-FFF2-40B4-BE49-F238E27FC236}">
                <a16:creationId xmlns:a16="http://schemas.microsoft.com/office/drawing/2014/main" id="{088C9BC3-5395-469A-A235-A1F175A6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4375" y="27479625"/>
            <a:ext cx="1285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825C"/>
                </a:solidFill>
              </a:defRPr>
            </a:pPr>
            <a:r>
              <a:rPr sz="2025" b="1">
                <a:solidFill>
                  <a:srgbClr val="18825C"/>
                </a:solidFill>
              </a:rPr>
              <a:t>Crowded-target geometry exposes the weakness of distance-only association; FIM-aware choices remain reliable.</a:t>
            </a:r>
          </a:p>
        </p:txBody>
      </p:sp>
      <p:sp>
        <p:nvSpPr>
          <p:cNvPr id="49" name="takeaway_box">
            <a:extLst xmlns:a="http://schemas.openxmlformats.org/drawingml/2006/main">
              <a:ext uri="{FF2B5EF4-FFF2-40B4-BE49-F238E27FC236}">
                <a16:creationId xmlns:a16="http://schemas.microsoft.com/office/drawing/2014/main" id="{6F3C23CE-B596-4D4B-8B76-1F8C4C96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41875" y="21764625"/>
            <a:ext cx="11525250" cy="657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takeaway_head">
            <a:extLst xmlns:a="http://schemas.openxmlformats.org/drawingml/2006/main">
              <a:ext uri="{FF2B5EF4-FFF2-40B4-BE49-F238E27FC236}">
                <a16:creationId xmlns:a16="http://schemas.microsoft.com/office/drawing/2014/main" id="{8B11023B-005D-43DA-8DED-E47C6D96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0" y="222885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79C8EF"/>
                </a:solidFill>
              </a:defRPr>
            </a:pPr>
            <a:r>
              <a:rPr sz="2775" b="1">
                <a:solidFill>
                  <a:srgbClr val="79C8EF"/>
                </a:solidFill>
              </a:rPr>
              <a:t>TAKEAWAY</a:t>
            </a:r>
          </a:p>
        </p:txBody>
      </p:sp>
      <p:sp>
        <p:nvSpPr>
          <p:cNvPr id="51" name="takeaway">
            <a:extLst xmlns:a="http://schemas.openxmlformats.org/drawingml/2006/main">
              <a:ext uri="{FF2B5EF4-FFF2-40B4-BE49-F238E27FC236}">
                <a16:creationId xmlns:a16="http://schemas.microsoft.com/office/drawing/2014/main" id="{7A533AD5-0EF6-4EAF-816A-4CE79B34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0" y="23050500"/>
            <a:ext cx="100965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Dedicated sensing should be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geometry-aware and sparsely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authorized.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Our dual-DC recovery finds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physically feasible binary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clusters, while robust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beamforming absorbs QoS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pressure through the global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communication degrees of freedom.</a:t>
            </a:r>
          </a:p>
        </p:txBody>
      </p:sp>
      <p:sp>
        <p:nvSpPr>
          <p:cNvPr id="52" name="footer">
            <a:extLst xmlns:a="http://schemas.openxmlformats.org/drawingml/2006/main">
              <a:ext uri="{FF2B5EF4-FFF2-40B4-BE49-F238E27FC236}">
                <a16:creationId xmlns:a16="http://schemas.microsoft.com/office/drawing/2014/main" id="{CF518094-1BAB-4112-B2DA-42E8AEFC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003875"/>
            <a:ext cx="43891200" cy="1914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footer_left">
            <a:extLst xmlns:a="http://schemas.openxmlformats.org/drawingml/2006/main">
              <a:ext uri="{FF2B5EF4-FFF2-40B4-BE49-F238E27FC236}">
                <a16:creationId xmlns:a16="http://schemas.microsoft.com/office/drawing/2014/main" id="{8C525A3D-2676-466C-B69E-C4FB2F28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384875"/>
            <a:ext cx="2857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BF7"/>
                </a:solidFill>
              </a:defRPr>
            </a:pPr>
            <a:r>
              <a:rPr sz="1875" b="0">
                <a:solidFill>
                  <a:srgbClr val="D9EBF7"/>
                </a:solidFill>
              </a:rPr>
              <a:t>Metrics: feasibility is unconditional; power and QoS values are conditioned on physical feasibility unless stated otherwise.</a:t>
            </a:r>
          </a:p>
        </p:txBody>
      </p:sp>
      <p:sp>
        <p:nvSpPr>
          <p:cNvPr id="54" name="footer_right">
            <a:extLst xmlns:a="http://schemas.openxmlformats.org/drawingml/2006/main">
              <a:ext uri="{FF2B5EF4-FFF2-40B4-BE49-F238E27FC236}">
                <a16:creationId xmlns:a16="http://schemas.microsoft.com/office/drawing/2014/main" id="{1311DB32-7E6E-413D-A543-0CD89A2A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0" y="31384875"/>
            <a:ext cx="1257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80C8EE"/>
                </a:solidFill>
              </a:defRPr>
            </a:pPr>
            <a:r>
              <a:rPr sz="1875" b="1">
                <a:solidFill>
                  <a:srgbClr val="80C8EE"/>
                </a:solidFill>
              </a:rPr>
              <a:t>Author / affiliation / QR: add before printing</a:t>
            </a:r>
          </a:p>
        </p:txBody>
      </p:sp>
    </p:spTree>
    <p:extLst>
      <p:ext uri="{BB962C8B-B14F-4D97-AF65-F5344CB8AC3E}">
        <p14:creationId xmlns:p14="http://schemas.microsoft.com/office/powerpoint/2010/main" val="9822855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2026-07-28T13:32:23.2480000Z</dcterms:created>
  <dcterms:modified xsi:type="dcterms:W3CDTF">2026-07-28T13:32:23.2480000Z</dcterms:modified>
</coreProperties>
</file>